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94960" y="822960"/>
            <a:ext cx="1371600" cy="1371600"/>
          </a:xfrm>
          <a:prstGeom prst="roundRect">
            <a:avLst/>
          </a:prstGeom>
          <a:solidFill>
            <a:srgbClr val="2F8F6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800" b="1">
                <a:solidFill>
                  <a:srgbClr val="FFFFFF"/>
                </a:solidFill>
              </a:rPr>
              <a:t>M</a:t>
            </a:r>
          </a:p>
        </p:txBody>
      </p:sp>
      <p:sp>
        <p:nvSpPr>
          <p:cNvPr id="4" name="TextBox 3"/>
          <p:cNvSpPr txBox="1"/>
          <p:nvPr/>
        </p:nvSpPr>
        <p:spPr>
          <a:xfrm>
            <a:off x="0" y="2377440"/>
            <a:ext cx="12191695" cy="1005840"/>
          </a:xfrm>
          <a:prstGeom prst="rect">
            <a:avLst/>
          </a:prstGeom>
          <a:noFill/>
        </p:spPr>
        <p:txBody>
          <a:bodyPr wrap="square">
            <a:spAutoFit/>
          </a:bodyPr>
          <a:lstStyle/>
          <a:p>
            <a:pPr algn="ctr">
              <a:lnSpc>
                <a:spcPct val="120000"/>
              </a:lnSpc>
            </a:pPr>
            <a:r>
              <a:rPr sz="5400" b="1" i="0">
                <a:solidFill>
                  <a:srgbClr val="24344A"/>
                </a:solidFill>
                <a:latin typeface="Georgia"/>
              </a:rPr>
              <a:t>MindHx</a:t>
            </a:r>
          </a:p>
        </p:txBody>
      </p:sp>
      <p:sp>
        <p:nvSpPr>
          <p:cNvPr id="5" name="TextBox 4"/>
          <p:cNvSpPr txBox="1"/>
          <p:nvPr/>
        </p:nvSpPr>
        <p:spPr>
          <a:xfrm>
            <a:off x="0" y="3246120"/>
            <a:ext cx="12191695" cy="548640"/>
          </a:xfrm>
          <a:prstGeom prst="rect">
            <a:avLst/>
          </a:prstGeom>
          <a:noFill/>
        </p:spPr>
        <p:txBody>
          <a:bodyPr wrap="square">
            <a:spAutoFit/>
          </a:bodyPr>
          <a:lstStyle/>
          <a:p>
            <a:pPr algn="ctr">
              <a:lnSpc>
                <a:spcPct val="120000"/>
              </a:lnSpc>
            </a:pPr>
            <a:r>
              <a:rPr sz="2200" b="0" i="1">
                <a:solidFill>
                  <a:srgbClr val="2F8F6E"/>
                </a:solidFill>
                <a:latin typeface="Georgia"/>
              </a:rPr>
              <a:t>Notice the signal. Keep the human.</a:t>
            </a:r>
          </a:p>
        </p:txBody>
      </p:sp>
      <p:sp>
        <p:nvSpPr>
          <p:cNvPr id="6" name="TextBox 5"/>
          <p:cNvSpPr txBox="1"/>
          <p:nvPr/>
        </p:nvSpPr>
        <p:spPr>
          <a:xfrm>
            <a:off x="1828800" y="3840480"/>
            <a:ext cx="8534095" cy="914400"/>
          </a:xfrm>
          <a:prstGeom prst="rect">
            <a:avLst/>
          </a:prstGeom>
          <a:noFill/>
        </p:spPr>
        <p:txBody>
          <a:bodyPr wrap="square">
            <a:spAutoFit/>
          </a:bodyPr>
          <a:lstStyle/>
          <a:p>
            <a:pPr algn="ctr">
              <a:lnSpc>
                <a:spcPct val="120000"/>
              </a:lnSpc>
            </a:pPr>
            <a:r>
              <a:rPr sz="1300" b="0" i="0">
                <a:solidFill>
                  <a:srgbClr val="6E7C8C"/>
                </a:solidFill>
                <a:latin typeface="DM Sans"/>
              </a:rPr>
              <a:t>An early-detection mental-health triage aid that fuses voice, language, and validated clinical</a:t>
            </a:r>
          </a:p>
          <a:p>
            <a:pPr algn="ctr">
              <a:lnSpc>
                <a:spcPct val="120000"/>
              </a:lnSpc>
            </a:pPr>
            <a:r>
              <a:rPr sz="1300" b="0" i="0">
                <a:solidFill>
                  <a:srgbClr val="6E7C8C"/>
                </a:solidFill>
                <a:latin typeface="DM Sans"/>
              </a:rPr>
              <a:t>questionnaires into one explainable risk signal - private by default, bilingual in English and Urdu.</a:t>
            </a:r>
          </a:p>
        </p:txBody>
      </p:sp>
      <p:sp>
        <p:nvSpPr>
          <p:cNvPr id="7" name="TextBox 6"/>
          <p:cNvSpPr txBox="1"/>
          <p:nvPr/>
        </p:nvSpPr>
        <p:spPr>
          <a:xfrm>
            <a:off x="0" y="5029200"/>
            <a:ext cx="12191695" cy="365760"/>
          </a:xfrm>
          <a:prstGeom prst="rect">
            <a:avLst/>
          </a:prstGeom>
          <a:noFill/>
        </p:spPr>
        <p:txBody>
          <a:bodyPr wrap="square">
            <a:spAutoFit/>
          </a:bodyPr>
          <a:lstStyle/>
          <a:p>
            <a:pPr algn="ctr">
              <a:lnSpc>
                <a:spcPct val="120000"/>
              </a:lnSpc>
            </a:pPr>
            <a:r>
              <a:rPr sz="1100" b="0" i="0">
                <a:solidFill>
                  <a:srgbClr val="2C6FBA"/>
                </a:solidFill>
                <a:latin typeface="DM Mono"/>
              </a:rPr>
              <a:t>Next.js 16   ·   FastAPI   ·   Qwen / DashScope   ·   PHQ-9 / GAD-7 / K10   ·   English + Urdu</a:t>
            </a:r>
          </a:p>
        </p:txBody>
      </p:sp>
      <p:sp>
        <p:nvSpPr>
          <p:cNvPr id="8" name="TextBox 7"/>
          <p:cNvSpPr txBox="1"/>
          <p:nvPr/>
        </p:nvSpPr>
        <p:spPr>
          <a:xfrm>
            <a:off x="0" y="5669280"/>
            <a:ext cx="12191695" cy="365760"/>
          </a:xfrm>
          <a:prstGeom prst="rect">
            <a:avLst/>
          </a:prstGeom>
          <a:noFill/>
        </p:spPr>
        <p:txBody>
          <a:bodyPr wrap="square">
            <a:spAutoFit/>
          </a:bodyPr>
          <a:lstStyle/>
          <a:p>
            <a:pPr algn="ctr">
              <a:lnSpc>
                <a:spcPct val="120000"/>
              </a:lnSpc>
            </a:pPr>
            <a:r>
              <a:rPr sz="1400" b="1" i="0">
                <a:solidFill>
                  <a:srgbClr val="24344A"/>
                </a:solidFill>
                <a:latin typeface="DM Sans"/>
              </a:rPr>
              <a:t>Presented by Iqra Nazir &amp; Faizan Arshad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AGENDA</a:t>
            </a:r>
          </a:p>
        </p:txBody>
      </p:sp>
      <p:sp>
        <p:nvSpPr>
          <p:cNvPr id="4" name="TextBox 3"/>
          <p:cNvSpPr txBox="1"/>
          <p:nvPr/>
        </p:nvSpPr>
        <p:spPr>
          <a:xfrm>
            <a:off x="685800" y="822960"/>
            <a:ext cx="9144000" cy="1097280"/>
          </a:xfrm>
          <a:prstGeom prst="rect">
            <a:avLst/>
          </a:prstGeom>
          <a:noFill/>
        </p:spPr>
        <p:txBody>
          <a:bodyPr wrap="square">
            <a:spAutoFit/>
          </a:bodyPr>
          <a:lstStyle/>
          <a:p>
            <a:pPr algn="l">
              <a:lnSpc>
                <a:spcPct val="120000"/>
              </a:lnSpc>
            </a:pPr>
            <a:r>
              <a:rPr sz="3800" b="1" i="0">
                <a:solidFill>
                  <a:srgbClr val="24344A"/>
                </a:solidFill>
                <a:latin typeface="Georgia"/>
              </a:rPr>
              <a:t>What we'll cover.</a:t>
            </a:r>
          </a:p>
        </p:txBody>
      </p:sp>
      <p:sp>
        <p:nvSpPr>
          <p:cNvPr id="5" name="TextBox 4"/>
          <p:cNvSpPr txBox="1"/>
          <p:nvPr/>
        </p:nvSpPr>
        <p:spPr>
          <a:xfrm>
            <a:off x="822960" y="2194560"/>
            <a:ext cx="5303520" cy="3200400"/>
          </a:xfrm>
          <a:prstGeom prst="rect">
            <a:avLst/>
          </a:prstGeom>
          <a:noFill/>
        </p:spPr>
        <p:txBody>
          <a:bodyPr wrap="square">
            <a:spAutoFit/>
          </a:bodyPr>
          <a:lstStyle/>
          <a:p>
            <a:pPr algn="l">
              <a:lnSpc>
                <a:spcPct val="130000"/>
              </a:lnSpc>
            </a:pPr>
            <a:r>
              <a:rPr sz="1600" b="0" i="0">
                <a:solidFill>
                  <a:srgbClr val="24344A"/>
                </a:solidFill>
                <a:latin typeface="DM Sans"/>
              </a:rPr>
              <a:t>01  The objective and the problem</a:t>
            </a:r>
          </a:p>
          <a:p>
            <a:pPr algn="l">
              <a:lnSpc>
                <a:spcPct val="130000"/>
              </a:lnSpc>
            </a:pPr>
            <a:r>
              <a:rPr sz="1600" b="0" i="0">
                <a:solidFill>
                  <a:srgbClr val="24344A"/>
                </a:solidFill>
                <a:latin typeface="DM Sans"/>
              </a:rPr>
              <a:t/>
            </a:r>
          </a:p>
          <a:p>
            <a:pPr algn="l">
              <a:lnSpc>
                <a:spcPct val="130000"/>
              </a:lnSpc>
            </a:pPr>
            <a:r>
              <a:rPr sz="1600" b="0" i="0">
                <a:solidFill>
                  <a:srgbClr val="24344A"/>
                </a:solidFill>
                <a:latin typeface="DM Sans"/>
              </a:rPr>
              <a:t>02  Why this matters for Pakistan</a:t>
            </a:r>
          </a:p>
          <a:p>
            <a:pPr algn="l">
              <a:lnSpc>
                <a:spcPct val="130000"/>
              </a:lnSpc>
            </a:pPr>
            <a:r>
              <a:rPr sz="1600" b="0" i="0">
                <a:solidFill>
                  <a:srgbClr val="24344A"/>
                </a:solidFill>
                <a:latin typeface="DM Sans"/>
              </a:rPr>
              <a:t/>
            </a:r>
          </a:p>
          <a:p>
            <a:pPr algn="l">
              <a:lnSpc>
                <a:spcPct val="130000"/>
              </a:lnSpc>
            </a:pPr>
            <a:r>
              <a:rPr sz="1600" b="0" i="0">
                <a:solidFill>
                  <a:srgbClr val="24344A"/>
                </a:solidFill>
                <a:latin typeface="DM Sans"/>
              </a:rPr>
              <a:t>03  The product - screenshots and functionality</a:t>
            </a:r>
          </a:p>
          <a:p>
            <a:pPr algn="l">
              <a:lnSpc>
                <a:spcPct val="130000"/>
              </a:lnSpc>
            </a:pPr>
            <a:r>
              <a:rPr sz="1600" b="0" i="0">
                <a:solidFill>
                  <a:srgbClr val="24344A"/>
                </a:solidFill>
                <a:latin typeface="DM Sans"/>
              </a:rPr>
              <a:t/>
            </a:r>
          </a:p>
          <a:p>
            <a:pPr algn="l">
              <a:lnSpc>
                <a:spcPct val="130000"/>
              </a:lnSpc>
            </a:pPr>
            <a:r>
              <a:rPr sz="1600" b="0" i="0">
                <a:solidFill>
                  <a:srgbClr val="24344A"/>
                </a:solidFill>
                <a:latin typeface="DM Sans"/>
              </a:rPr>
              <a:t>04  Urdu language - the core of MindHx's accessibility mission</a:t>
            </a:r>
          </a:p>
        </p:txBody>
      </p:sp>
      <p:sp>
        <p:nvSpPr>
          <p:cNvPr id="6" name="TextBox 5"/>
          <p:cNvSpPr txBox="1"/>
          <p:nvPr/>
        </p:nvSpPr>
        <p:spPr>
          <a:xfrm>
            <a:off x="6400800" y="2194560"/>
            <a:ext cx="5303520" cy="3200400"/>
          </a:xfrm>
          <a:prstGeom prst="rect">
            <a:avLst/>
          </a:prstGeom>
          <a:noFill/>
        </p:spPr>
        <p:txBody>
          <a:bodyPr wrap="square">
            <a:spAutoFit/>
          </a:bodyPr>
          <a:lstStyle/>
          <a:p>
            <a:pPr algn="l">
              <a:lnSpc>
                <a:spcPct val="130000"/>
              </a:lnSpc>
            </a:pPr>
            <a:r>
              <a:rPr sz="1600" b="0" i="0">
                <a:solidFill>
                  <a:srgbClr val="24344A"/>
                </a:solidFill>
                <a:latin typeface="DM Sans"/>
              </a:rPr>
              <a:t>05  Technical architecture and endpoints</a:t>
            </a:r>
          </a:p>
          <a:p>
            <a:pPr algn="l">
              <a:lnSpc>
                <a:spcPct val="130000"/>
              </a:lnSpc>
            </a:pPr>
            <a:r>
              <a:rPr sz="1600" b="0" i="0">
                <a:solidFill>
                  <a:srgbClr val="24344A"/>
                </a:solidFill>
                <a:latin typeface="DM Sans"/>
              </a:rPr>
              <a:t/>
            </a:r>
          </a:p>
          <a:p>
            <a:pPr algn="l">
              <a:lnSpc>
                <a:spcPct val="130000"/>
              </a:lnSpc>
            </a:pPr>
            <a:r>
              <a:rPr sz="1600" b="0" i="0">
                <a:solidFill>
                  <a:srgbClr val="24344A"/>
                </a:solidFill>
                <a:latin typeface="DM Sans"/>
              </a:rPr>
              <a:t>06  Quality, testing, and safety design</a:t>
            </a:r>
          </a:p>
          <a:p>
            <a:pPr algn="l">
              <a:lnSpc>
                <a:spcPct val="130000"/>
              </a:lnSpc>
            </a:pPr>
            <a:r>
              <a:rPr sz="1600" b="0" i="0">
                <a:solidFill>
                  <a:srgbClr val="24344A"/>
                </a:solidFill>
                <a:latin typeface="DM Sans"/>
              </a:rPr>
              <a:t/>
            </a:r>
          </a:p>
          <a:p>
            <a:pPr algn="l">
              <a:lnSpc>
                <a:spcPct val="130000"/>
              </a:lnSpc>
            </a:pPr>
            <a:r>
              <a:rPr sz="1600" b="0" i="0">
                <a:solidFill>
                  <a:srgbClr val="24344A"/>
                </a:solidFill>
                <a:latin typeface="DM Sans"/>
              </a:rPr>
              <a:t>07  Roadmap and future possibilities</a:t>
            </a:r>
          </a:p>
          <a:p>
            <a:pPr algn="l">
              <a:lnSpc>
                <a:spcPct val="130000"/>
              </a:lnSpc>
            </a:pPr>
            <a:r>
              <a:rPr sz="1600" b="0" i="0">
                <a:solidFill>
                  <a:srgbClr val="24344A"/>
                </a:solidFill>
                <a:latin typeface="DM Sans"/>
              </a:rPr>
              <a:t/>
            </a:r>
          </a:p>
          <a:p>
            <a:pPr algn="l">
              <a:lnSpc>
                <a:spcPct val="130000"/>
              </a:lnSpc>
            </a:pPr>
            <a:r>
              <a:rPr sz="1600" b="0" i="0">
                <a:solidFill>
                  <a:srgbClr val="24344A"/>
                </a:solidFill>
                <a:latin typeface="DM Sans"/>
              </a:rPr>
              <a:t>08  Team and closing</a:t>
            </a:r>
          </a:p>
        </p:txBody>
      </p:sp>
      <p:sp>
        <p:nvSpPr>
          <p:cNvPr id="7" name="TextBox 6"/>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8" name="TextBox 7"/>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01 / OBJECTIVE</a:t>
            </a:r>
          </a:p>
        </p:txBody>
      </p:sp>
      <p:sp>
        <p:nvSpPr>
          <p:cNvPr id="4" name="TextBox 3"/>
          <p:cNvSpPr txBox="1"/>
          <p:nvPr/>
        </p:nvSpPr>
        <p:spPr>
          <a:xfrm>
            <a:off x="685800" y="777240"/>
            <a:ext cx="10058400" cy="1371600"/>
          </a:xfrm>
          <a:prstGeom prst="rect">
            <a:avLst/>
          </a:prstGeom>
          <a:noFill/>
        </p:spPr>
        <p:txBody>
          <a:bodyPr wrap="square">
            <a:spAutoFit/>
          </a:bodyPr>
          <a:lstStyle/>
          <a:p>
            <a:pPr algn="l">
              <a:lnSpc>
                <a:spcPct val="120000"/>
              </a:lnSpc>
            </a:pPr>
            <a:r>
              <a:rPr sz="3400" b="1" i="0">
                <a:solidFill>
                  <a:srgbClr val="24344A"/>
                </a:solidFill>
                <a:latin typeface="Georgia"/>
              </a:rPr>
              <a:t>Lower the barrier to a first screening step.</a:t>
            </a:r>
          </a:p>
        </p:txBody>
      </p:sp>
      <p:sp>
        <p:nvSpPr>
          <p:cNvPr id="5" name="TextBox 4"/>
          <p:cNvSpPr txBox="1"/>
          <p:nvPr/>
        </p:nvSpPr>
        <p:spPr>
          <a:xfrm>
            <a:off x="685800" y="1783080"/>
            <a:ext cx="10789920" cy="1097280"/>
          </a:xfrm>
          <a:prstGeom prst="rect">
            <a:avLst/>
          </a:prstGeom>
          <a:noFill/>
        </p:spPr>
        <p:txBody>
          <a:bodyPr wrap="square">
            <a:spAutoFit/>
          </a:bodyPr>
          <a:lstStyle/>
          <a:p>
            <a:pPr algn="l">
              <a:lnSpc>
                <a:spcPct val="130000"/>
              </a:lnSpc>
            </a:pPr>
            <a:r>
              <a:rPr sz="1300" b="0" i="0">
                <a:solidFill>
                  <a:srgbClr val="6E7C8C"/>
                </a:solidFill>
                <a:latin typeface="DM Sans"/>
              </a:rPr>
              <a:t>Depression, anxiety, and related conditions are frequently under-screened, especially where access to mental-health professionals is limited and stigma discourages self-report. MindHx's objective is a private, low-friction check-in that surfaces a risk signal a person can act on.</a:t>
            </a:r>
          </a:p>
        </p:txBody>
      </p:sp>
      <p:sp>
        <p:nvSpPr>
          <p:cNvPr id="6" name="Rounded Rectangle 5"/>
          <p:cNvSpPr/>
          <p:nvPr/>
        </p:nvSpPr>
        <p:spPr>
          <a:xfrm>
            <a:off x="685800" y="3200400"/>
            <a:ext cx="3429000" cy="265176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r>
              <a:rPr b="1" sz="1500">
                <a:solidFill>
                  <a:srgbClr val="2C6FBA"/>
                </a:solidFill>
              </a:rPr>
              <a:t>Multimodal, not single-signal</a:t>
            </a:r>
          </a:p>
          <a:p>
            <a:pPr>
              <a:spcBef>
                <a:spcPts val="800"/>
              </a:spcBef>
            </a:pPr>
            <a:r>
              <a:rPr sz="1150">
                <a:solidFill>
                  <a:srgbClr val="6E7C8C"/>
                </a:solidFill>
              </a:rPr>
              <a:t>Voice, text, and three validated questionnaires fused into one explainable score with a real per-signal attribution breakdown.</a:t>
            </a:r>
          </a:p>
        </p:txBody>
      </p:sp>
      <p:sp>
        <p:nvSpPr>
          <p:cNvPr id="7" name="Rounded Rectangle 6"/>
          <p:cNvSpPr/>
          <p:nvPr/>
        </p:nvSpPr>
        <p:spPr>
          <a:xfrm>
            <a:off x="4297680" y="3200400"/>
            <a:ext cx="3429000" cy="265176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r>
              <a:rPr b="1" sz="1500">
                <a:solidFill>
                  <a:srgbClr val="2F8F6E"/>
                </a:solidFill>
              </a:rPr>
              <a:t>Route, don't diagnose</a:t>
            </a:r>
          </a:p>
          <a:p>
            <a:pPr>
              <a:spcBef>
                <a:spcPts val="800"/>
              </a:spcBef>
            </a:pPr>
            <a:r>
              <a:rPr sz="1150">
                <a:solidFill>
                  <a:srgbClr val="6E7C8C"/>
                </a:solidFill>
              </a:rPr>
              <a:t>Risk-tier language throughout, never diagnostic. Crisis signals short-circuit everything and go straight to Emergency Support.</a:t>
            </a:r>
          </a:p>
        </p:txBody>
      </p:sp>
      <p:sp>
        <p:nvSpPr>
          <p:cNvPr id="8" name="Rounded Rectangle 7"/>
          <p:cNvSpPr/>
          <p:nvPr/>
        </p:nvSpPr>
        <p:spPr>
          <a:xfrm>
            <a:off x="7909560" y="3200400"/>
            <a:ext cx="3429000" cy="265176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r>
              <a:rPr b="1" sz="1500">
                <a:solidFill>
                  <a:srgbClr val="E98232"/>
                </a:solidFill>
              </a:rPr>
              <a:t>Minimal data, accounts optional</a:t>
            </a:r>
          </a:p>
          <a:p>
            <a:pPr>
              <a:spcBef>
                <a:spcPts val="800"/>
              </a:spcBef>
            </a:pPr>
            <a:r>
              <a:rPr sz="1150">
                <a:solidFill>
                  <a:srgbClr val="6E7C8C"/>
                </a:solidFill>
              </a:rPr>
              <a:t>The core check-in never requires an account. Audio is processed and discarded. Only score/band/themes are ever saved.</a:t>
            </a:r>
          </a:p>
        </p:txBody>
      </p:sp>
      <p:sp>
        <p:nvSpPr>
          <p:cNvPr id="9" name="TextBox 8"/>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10" name="TextBox 9"/>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01 / INTRODUCTION — WHY MINDHX MATTERS</a:t>
            </a:r>
          </a:p>
        </p:txBody>
      </p:sp>
      <p:sp>
        <p:nvSpPr>
          <p:cNvPr id="4" name="TextBox 3"/>
          <p:cNvSpPr txBox="1"/>
          <p:nvPr/>
        </p:nvSpPr>
        <p:spPr>
          <a:xfrm>
            <a:off x="685800" y="1051560"/>
            <a:ext cx="10789920" cy="1188720"/>
          </a:xfrm>
          <a:prstGeom prst="rect">
            <a:avLst/>
          </a:prstGeom>
          <a:noFill/>
        </p:spPr>
        <p:txBody>
          <a:bodyPr wrap="square">
            <a:spAutoFit/>
          </a:bodyPr>
          <a:lstStyle/>
          <a:p>
            <a:pPr algn="l">
              <a:lnSpc>
                <a:spcPct val="130000"/>
              </a:lnSpc>
            </a:pPr>
            <a:r>
              <a:rPr sz="1400" b="0" i="0">
                <a:solidFill>
                  <a:srgbClr val="24344A"/>
                </a:solidFill>
                <a:latin typeface="DM Sans"/>
              </a:rPr>
              <a:t>MindHx matters because mental health screening is still hard and expensive to access, especially in a country like Pakistan where psychiatrists are scarce and social stigma keeps people from speaking up.</a:t>
            </a:r>
          </a:p>
        </p:txBody>
      </p:sp>
      <p:sp>
        <p:nvSpPr>
          <p:cNvPr id="5" name="TextBox 4"/>
          <p:cNvSpPr txBox="1"/>
          <p:nvPr/>
        </p:nvSpPr>
        <p:spPr>
          <a:xfrm>
            <a:off x="685800" y="1947672"/>
            <a:ext cx="10789920" cy="1188720"/>
          </a:xfrm>
          <a:prstGeom prst="rect">
            <a:avLst/>
          </a:prstGeom>
          <a:noFill/>
        </p:spPr>
        <p:txBody>
          <a:bodyPr wrap="square">
            <a:spAutoFit/>
          </a:bodyPr>
          <a:lstStyle/>
          <a:p>
            <a:pPr algn="l">
              <a:lnSpc>
                <a:spcPct val="130000"/>
              </a:lnSpc>
            </a:pPr>
            <a:r>
              <a:rPr sz="1400" b="0" i="0">
                <a:solidFill>
                  <a:srgbClr val="24344A"/>
                </a:solidFill>
                <a:latin typeface="DM Sans"/>
              </a:rPr>
              <a:t>It combines three signals at once - how someone sounds, what they say, and validated PHQ-9, GAD-7, K10 questionnaires - into one clear score with a breakdown of what contributed to it.</a:t>
            </a:r>
          </a:p>
        </p:txBody>
      </p:sp>
      <p:sp>
        <p:nvSpPr>
          <p:cNvPr id="6" name="TextBox 5"/>
          <p:cNvSpPr txBox="1"/>
          <p:nvPr/>
        </p:nvSpPr>
        <p:spPr>
          <a:xfrm>
            <a:off x="685800" y="2587752"/>
            <a:ext cx="10789920" cy="1188720"/>
          </a:xfrm>
          <a:prstGeom prst="rect">
            <a:avLst/>
          </a:prstGeom>
          <a:noFill/>
        </p:spPr>
        <p:txBody>
          <a:bodyPr wrap="square">
            <a:spAutoFit/>
          </a:bodyPr>
          <a:lstStyle/>
          <a:p>
            <a:pPr algn="l">
              <a:lnSpc>
                <a:spcPct val="130000"/>
              </a:lnSpc>
            </a:pPr>
            <a:r>
              <a:rPr sz="1400" b="0" i="0">
                <a:solidFill>
                  <a:srgbClr val="24344A"/>
                </a:solidFill>
                <a:latin typeface="DM Sans"/>
              </a:rPr>
              <a:t>Rather than a formal diagnosis, it assesses the severity of the situation and underlying risk factors by detecting themes like grief, trauma, suicide risk, anxiety, depression, and pain, and uses this to route elevated risk straight to a professional. If something like self-harm comes up, it redirects to emergency support immediately, before any score is even shown.</a:t>
            </a:r>
          </a:p>
        </p:txBody>
      </p:sp>
      <p:sp>
        <p:nvSpPr>
          <p:cNvPr id="7" name="TextBox 6"/>
          <p:cNvSpPr txBox="1"/>
          <p:nvPr/>
        </p:nvSpPr>
        <p:spPr>
          <a:xfrm>
            <a:off x="685800" y="3739896"/>
            <a:ext cx="10789920" cy="1188720"/>
          </a:xfrm>
          <a:prstGeom prst="rect">
            <a:avLst/>
          </a:prstGeom>
          <a:noFill/>
        </p:spPr>
        <p:txBody>
          <a:bodyPr wrap="square">
            <a:spAutoFit/>
          </a:bodyPr>
          <a:lstStyle/>
          <a:p>
            <a:pPr algn="l">
              <a:lnSpc>
                <a:spcPct val="130000"/>
              </a:lnSpc>
            </a:pPr>
            <a:r>
              <a:rPr sz="1400" b="0" i="0">
                <a:solidFill>
                  <a:srgbClr val="24344A"/>
                </a:solidFill>
                <a:latin typeface="DM Sans"/>
              </a:rPr>
              <a:t>Signing in is optional, only for people who want their check-in history saved, and even then only the score and general themes are stored, never a transcript or written answers. Audio itself is always deleted right after processing. It also works fully in Urdu and English, making it usable locally rather than just another English-only app.</a:t>
            </a:r>
          </a:p>
        </p:txBody>
      </p:sp>
      <p:sp>
        <p:nvSpPr>
          <p:cNvPr id="8" name="TextBox 7"/>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9" name="TextBox 8"/>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02 / WHY THIS MATTERS FOR PAKISTAN</a:t>
            </a:r>
          </a:p>
        </p:txBody>
      </p:sp>
      <p:sp>
        <p:nvSpPr>
          <p:cNvPr id="4" name="TextBox 3"/>
          <p:cNvSpPr txBox="1"/>
          <p:nvPr/>
        </p:nvSpPr>
        <p:spPr>
          <a:xfrm>
            <a:off x="685800" y="777240"/>
            <a:ext cx="10515600" cy="1371600"/>
          </a:xfrm>
          <a:prstGeom prst="rect">
            <a:avLst/>
          </a:prstGeom>
          <a:noFill/>
        </p:spPr>
        <p:txBody>
          <a:bodyPr wrap="square">
            <a:spAutoFit/>
          </a:bodyPr>
          <a:lstStyle/>
          <a:p>
            <a:pPr algn="l">
              <a:lnSpc>
                <a:spcPct val="120000"/>
              </a:lnSpc>
            </a:pPr>
            <a:r>
              <a:rPr sz="3200" b="1" i="0">
                <a:solidFill>
                  <a:srgbClr val="24344A"/>
                </a:solidFill>
                <a:latin typeface="Georgia"/>
              </a:rPr>
              <a:t>A screening gap that is structural, not incidental.</a:t>
            </a:r>
          </a:p>
        </p:txBody>
      </p:sp>
      <p:sp>
        <p:nvSpPr>
          <p:cNvPr id="5" name="TextBox 4"/>
          <p:cNvSpPr txBox="1"/>
          <p:nvPr/>
        </p:nvSpPr>
        <p:spPr>
          <a:xfrm>
            <a:off x="822960" y="2103120"/>
            <a:ext cx="5212080" cy="2743200"/>
          </a:xfrm>
          <a:prstGeom prst="rect">
            <a:avLst/>
          </a:prstGeom>
          <a:noFill/>
        </p:spPr>
        <p:txBody>
          <a:bodyPr wrap="square">
            <a:spAutoFit/>
          </a:bodyPr>
          <a:lstStyle/>
          <a:p>
            <a:pPr algn="l">
              <a:lnSpc>
                <a:spcPct val="135000"/>
              </a:lnSpc>
            </a:pPr>
            <a:r>
              <a:rPr sz="1300" b="0" i="0">
                <a:solidFill>
                  <a:srgbClr val="24344A"/>
                </a:solidFill>
                <a:latin typeface="DM Sans"/>
              </a:rPr>
              <a:t>Access: Pakistan has one of the world's lowest psychiatrist-to-population ratios - widely cited estimates put it under 500 psychiatrists for a population of 240+ million, concentrated in major cities.</a:t>
            </a:r>
          </a:p>
          <a:p>
            <a:pPr algn="l">
              <a:lnSpc>
                <a:spcPct val="135000"/>
              </a:lnSpc>
            </a:pPr>
            <a:r>
              <a:rPr sz="1300" b="0" i="0">
                <a:solidFill>
                  <a:srgbClr val="24344A"/>
                </a:solidFill>
                <a:latin typeface="DM Sans"/>
              </a:rPr>
              <a:t/>
            </a:r>
          </a:p>
          <a:p>
            <a:pPr algn="l">
              <a:lnSpc>
                <a:spcPct val="135000"/>
              </a:lnSpc>
            </a:pPr>
            <a:r>
              <a:rPr sz="1300" b="0" i="0">
                <a:solidFill>
                  <a:srgbClr val="24344A"/>
                </a:solidFill>
                <a:latin typeface="DM Sans"/>
              </a:rPr>
              <a:t>Stigma: seeking mental-health help is often read as personal weakness or family shame, especially outside urban centers.</a:t>
            </a:r>
          </a:p>
        </p:txBody>
      </p:sp>
      <p:sp>
        <p:nvSpPr>
          <p:cNvPr id="6" name="TextBox 5"/>
          <p:cNvSpPr txBox="1"/>
          <p:nvPr/>
        </p:nvSpPr>
        <p:spPr>
          <a:xfrm>
            <a:off x="6309360" y="2103120"/>
            <a:ext cx="5212080" cy="2743200"/>
          </a:xfrm>
          <a:prstGeom prst="rect">
            <a:avLst/>
          </a:prstGeom>
          <a:noFill/>
        </p:spPr>
        <p:txBody>
          <a:bodyPr wrap="square">
            <a:spAutoFit/>
          </a:bodyPr>
          <a:lstStyle/>
          <a:p>
            <a:pPr algn="l">
              <a:lnSpc>
                <a:spcPct val="135000"/>
              </a:lnSpc>
            </a:pPr>
            <a:r>
              <a:rPr sz="1300" b="0" i="0">
                <a:solidFill>
                  <a:srgbClr val="24344A"/>
                </a:solidFill>
                <a:latin typeface="DM Sans"/>
              </a:rPr>
              <a:t>Language: Urdu is the national language and lingua franca, yet most digital mental-health tools are English-only - quietly excluding the people most likely to need them.</a:t>
            </a:r>
          </a:p>
          <a:p>
            <a:pPr algn="l">
              <a:lnSpc>
                <a:spcPct val="135000"/>
              </a:lnSpc>
            </a:pPr>
            <a:r>
              <a:rPr sz="1300" b="0" i="0">
                <a:solidFill>
                  <a:srgbClr val="24344A"/>
                </a:solidFill>
                <a:latin typeface="DM Sans"/>
              </a:rPr>
              <a:t/>
            </a:r>
          </a:p>
          <a:p>
            <a:pPr algn="l">
              <a:lnSpc>
                <a:spcPct val="135000"/>
              </a:lnSpc>
            </a:pPr>
            <a:r>
              <a:rPr sz="1300" b="0" i="0">
                <a:solidFill>
                  <a:srgbClr val="24344A"/>
                </a:solidFill>
                <a:latin typeface="DM Sans"/>
              </a:rPr>
              <a:t>Cost and distance: a first appointment often requires travel, time off work, and a fee just to find out if it's worth pursuing further.</a:t>
            </a:r>
          </a:p>
        </p:txBody>
      </p:sp>
      <p:sp>
        <p:nvSpPr>
          <p:cNvPr id="7" name="TextBox 6"/>
          <p:cNvSpPr txBox="1"/>
          <p:nvPr/>
        </p:nvSpPr>
        <p:spPr>
          <a:xfrm>
            <a:off x="685800" y="5212080"/>
            <a:ext cx="10789920" cy="914400"/>
          </a:xfrm>
          <a:prstGeom prst="rect">
            <a:avLst/>
          </a:prstGeom>
          <a:noFill/>
        </p:spPr>
        <p:txBody>
          <a:bodyPr wrap="square">
            <a:spAutoFit/>
          </a:bodyPr>
          <a:lstStyle/>
          <a:p>
            <a:pPr algn="l">
              <a:lnSpc>
                <a:spcPct val="130000"/>
              </a:lnSpc>
            </a:pPr>
            <a:r>
              <a:rPr sz="1300" b="0" i="1">
                <a:solidFill>
                  <a:srgbClr val="2F8F6E"/>
                </a:solidFill>
                <a:latin typeface="DM Sans"/>
              </a:rPr>
              <a:t>MindHx is built directly against these four barriers: private and free to try, no account required, fully bilingual, and paired with a verified directory of Pakistani providers.</a:t>
            </a:r>
          </a:p>
        </p:txBody>
      </p:sp>
      <p:sp>
        <p:nvSpPr>
          <p:cNvPr id="8" name="TextBox 7"/>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9" name="TextBox 8"/>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03 / THE PRODUCT</a:t>
            </a:r>
          </a:p>
        </p:txBody>
      </p:sp>
      <p:sp>
        <p:nvSpPr>
          <p:cNvPr id="4" name="TextBox 3"/>
          <p:cNvSpPr txBox="1"/>
          <p:nvPr/>
        </p:nvSpPr>
        <p:spPr>
          <a:xfrm>
            <a:off x="685800" y="777240"/>
            <a:ext cx="10515600" cy="1280160"/>
          </a:xfrm>
          <a:prstGeom prst="rect">
            <a:avLst/>
          </a:prstGeom>
          <a:noFill/>
        </p:spPr>
        <p:txBody>
          <a:bodyPr wrap="square">
            <a:spAutoFit/>
          </a:bodyPr>
          <a:lstStyle/>
          <a:p>
            <a:pPr algn="l">
              <a:lnSpc>
                <a:spcPct val="110000"/>
              </a:lnSpc>
            </a:pPr>
            <a:r>
              <a:rPr sz="3200" b="1" i="0">
                <a:solidFill>
                  <a:srgbClr val="24344A"/>
                </a:solidFill>
                <a:latin typeface="Georgia"/>
              </a:rPr>
              <a:t>Voice, words, and a short clinical</a:t>
            </a:r>
          </a:p>
          <a:p>
            <a:pPr algn="l">
              <a:lnSpc>
                <a:spcPct val="110000"/>
              </a:lnSpc>
            </a:pPr>
            <a:r>
              <a:rPr sz="3200" b="1" i="0">
                <a:solidFill>
                  <a:srgbClr val="24344A"/>
                </a:solidFill>
                <a:latin typeface="Georgia"/>
              </a:rPr>
              <a:t>questionnaire - in one flow.</a:t>
            </a:r>
          </a:p>
        </p:txBody>
      </p:sp>
      <p:pic>
        <p:nvPicPr>
          <p:cNvPr id="5" name="Picture 4" descr="home.jpg"/>
          <p:cNvPicPr>
            <a:picLocks noChangeAspect="1"/>
          </p:cNvPicPr>
          <p:nvPr/>
        </p:nvPicPr>
        <p:blipFill>
          <a:blip r:embed="rId2"/>
          <a:stretch>
            <a:fillRect/>
          </a:stretch>
        </p:blipFill>
        <p:spPr>
          <a:xfrm>
            <a:off x="3052945" y="2286000"/>
            <a:ext cx="6055629" cy="3657600"/>
          </a:xfrm>
          <a:prstGeom prst="rect">
            <a:avLst/>
          </a:prstGeom>
        </p:spPr>
      </p:pic>
      <p:sp>
        <p:nvSpPr>
          <p:cNvPr id="6" name="TextBox 5"/>
          <p:cNvSpPr txBox="1"/>
          <p:nvPr/>
        </p:nvSpPr>
        <p:spPr>
          <a:xfrm>
            <a:off x="685800" y="6035040"/>
            <a:ext cx="10789920" cy="365760"/>
          </a:xfrm>
          <a:prstGeom prst="rect">
            <a:avLst/>
          </a:prstGeom>
          <a:noFill/>
        </p:spPr>
        <p:txBody>
          <a:bodyPr wrap="square">
            <a:spAutoFit/>
          </a:bodyPr>
          <a:lstStyle/>
          <a:p>
            <a:pPr algn="ctr">
              <a:lnSpc>
                <a:spcPct val="120000"/>
              </a:lnSpc>
            </a:pPr>
            <a:r>
              <a:rPr sz="1100" b="0" i="0">
                <a:solidFill>
                  <a:srgbClr val="6E7C8C"/>
                </a:solidFill>
                <a:latin typeface="DM Mono"/>
              </a:rPr>
              <a:t>Home / check-in - a live combined-signal preview</a:t>
            </a:r>
          </a:p>
        </p:txBody>
      </p:sp>
      <p:sp>
        <p:nvSpPr>
          <p:cNvPr id="7" name="TextBox 6"/>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8" name="TextBox 7"/>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03 / THE PRODUCT</a:t>
            </a:r>
          </a:p>
        </p:txBody>
      </p:sp>
      <p:sp>
        <p:nvSpPr>
          <p:cNvPr id="4" name="TextBox 3"/>
          <p:cNvSpPr txBox="1"/>
          <p:nvPr/>
        </p:nvSpPr>
        <p:spPr>
          <a:xfrm>
            <a:off x="685800" y="777240"/>
            <a:ext cx="10515600" cy="1280160"/>
          </a:xfrm>
          <a:prstGeom prst="rect">
            <a:avLst/>
          </a:prstGeom>
          <a:noFill/>
        </p:spPr>
        <p:txBody>
          <a:bodyPr wrap="square">
            <a:spAutoFit/>
          </a:bodyPr>
          <a:lstStyle/>
          <a:p>
            <a:pPr algn="l">
              <a:lnSpc>
                <a:spcPct val="110000"/>
              </a:lnSpc>
            </a:pPr>
            <a:r>
              <a:rPr sz="2800" b="1" i="0">
                <a:solidFill>
                  <a:srgbClr val="24344A"/>
                </a:solidFill>
                <a:latin typeface="Georgia"/>
              </a:rPr>
              <a:t>Medication reference —</a:t>
            </a:r>
          </a:p>
          <a:p>
            <a:pPr algn="l">
              <a:lnSpc>
                <a:spcPct val="110000"/>
              </a:lnSpc>
            </a:pPr>
            <a:r>
              <a:rPr sz="2800" b="1" i="0">
                <a:solidFill>
                  <a:srgbClr val="24344A"/>
                </a:solidFill>
                <a:latin typeface="Georgia"/>
              </a:rPr>
              <a:t>general education, in both languages.</a:t>
            </a:r>
          </a:p>
        </p:txBody>
      </p:sp>
      <p:pic>
        <p:nvPicPr>
          <p:cNvPr id="5" name="Picture 4" descr="medication.jpg"/>
          <p:cNvPicPr>
            <a:picLocks noChangeAspect="1"/>
          </p:cNvPicPr>
          <p:nvPr/>
        </p:nvPicPr>
        <p:blipFill>
          <a:blip r:embed="rId2"/>
          <a:stretch>
            <a:fillRect/>
          </a:stretch>
        </p:blipFill>
        <p:spPr>
          <a:xfrm>
            <a:off x="685800" y="2522646"/>
            <a:ext cx="5120640" cy="3092866"/>
          </a:xfrm>
          <a:prstGeom prst="rect">
            <a:avLst/>
          </a:prstGeom>
        </p:spPr>
      </p:pic>
      <p:sp>
        <p:nvSpPr>
          <p:cNvPr id="6" name="TextBox 5"/>
          <p:cNvSpPr txBox="1"/>
          <p:nvPr/>
        </p:nvSpPr>
        <p:spPr>
          <a:xfrm>
            <a:off x="685800" y="5897880"/>
            <a:ext cx="5120640" cy="365760"/>
          </a:xfrm>
          <a:prstGeom prst="rect">
            <a:avLst/>
          </a:prstGeom>
          <a:noFill/>
        </p:spPr>
        <p:txBody>
          <a:bodyPr wrap="square">
            <a:spAutoFit/>
          </a:bodyPr>
          <a:lstStyle/>
          <a:p>
            <a:pPr algn="ctr">
              <a:lnSpc>
                <a:spcPct val="120000"/>
              </a:lnSpc>
            </a:pPr>
            <a:r>
              <a:rPr sz="1050" b="0" i="0">
                <a:solidFill>
                  <a:srgbClr val="6E7C8C"/>
                </a:solidFill>
                <a:latin typeface="DM Mono"/>
              </a:rPr>
              <a:t>Medication reference — English</a:t>
            </a:r>
          </a:p>
        </p:txBody>
      </p:sp>
      <p:pic>
        <p:nvPicPr>
          <p:cNvPr id="7" name="Picture 6" descr="medication.jpg"/>
          <p:cNvPicPr>
            <a:picLocks noChangeAspect="1"/>
          </p:cNvPicPr>
          <p:nvPr/>
        </p:nvPicPr>
        <p:blipFill>
          <a:blip r:embed="rId3"/>
          <a:stretch>
            <a:fillRect/>
          </a:stretch>
        </p:blipFill>
        <p:spPr>
          <a:xfrm>
            <a:off x="6355080" y="2522646"/>
            <a:ext cx="5120640" cy="3092866"/>
          </a:xfrm>
          <a:prstGeom prst="rect">
            <a:avLst/>
          </a:prstGeom>
        </p:spPr>
      </p:pic>
      <p:sp>
        <p:nvSpPr>
          <p:cNvPr id="8" name="TextBox 7"/>
          <p:cNvSpPr txBox="1"/>
          <p:nvPr/>
        </p:nvSpPr>
        <p:spPr>
          <a:xfrm>
            <a:off x="6355080" y="5897880"/>
            <a:ext cx="5120640" cy="365760"/>
          </a:xfrm>
          <a:prstGeom prst="rect">
            <a:avLst/>
          </a:prstGeom>
          <a:noFill/>
        </p:spPr>
        <p:txBody>
          <a:bodyPr wrap="square">
            <a:spAutoFit/>
          </a:bodyPr>
          <a:lstStyle/>
          <a:p>
            <a:pPr algn="ctr">
              <a:lnSpc>
                <a:spcPct val="120000"/>
              </a:lnSpc>
            </a:pPr>
            <a:r>
              <a:rPr sz="1050" b="0" i="0">
                <a:solidFill>
                  <a:srgbClr val="6E7C8C"/>
                </a:solidFill>
                <a:latin typeface="DM Mono"/>
              </a:rPr>
              <a:t>Medication reference — Urdu</a:t>
            </a:r>
          </a:p>
        </p:txBody>
      </p:sp>
      <p:sp>
        <p:nvSpPr>
          <p:cNvPr id="9" name="TextBox 8"/>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10" name="TextBox 9"/>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03 / THE PRODUCT</a:t>
            </a:r>
          </a:p>
        </p:txBody>
      </p:sp>
      <p:sp>
        <p:nvSpPr>
          <p:cNvPr id="4" name="TextBox 3"/>
          <p:cNvSpPr txBox="1"/>
          <p:nvPr/>
        </p:nvSpPr>
        <p:spPr>
          <a:xfrm>
            <a:off x="685800" y="777240"/>
            <a:ext cx="10607040" cy="1371600"/>
          </a:xfrm>
          <a:prstGeom prst="rect">
            <a:avLst/>
          </a:prstGeom>
          <a:noFill/>
        </p:spPr>
        <p:txBody>
          <a:bodyPr wrap="square">
            <a:spAutoFit/>
          </a:bodyPr>
          <a:lstStyle/>
          <a:p>
            <a:pPr algn="l">
              <a:lnSpc>
                <a:spcPct val="112000"/>
              </a:lnSpc>
            </a:pPr>
            <a:r>
              <a:rPr sz="2800" b="1" i="0">
                <a:solidFill>
                  <a:srgbClr val="24344A"/>
                </a:solidFill>
                <a:latin typeface="Georgia"/>
              </a:rPr>
              <a:t>How the combined score is calculated</a:t>
            </a:r>
          </a:p>
        </p:txBody>
      </p:sp>
      <p:sp>
        <p:nvSpPr>
          <p:cNvPr id="5" name="TextBox 4"/>
          <p:cNvSpPr txBox="1"/>
          <p:nvPr/>
        </p:nvSpPr>
        <p:spPr>
          <a:xfrm>
            <a:off x="685800" y="2286000"/>
            <a:ext cx="10789920" cy="1280160"/>
          </a:xfrm>
          <a:prstGeom prst="rect">
            <a:avLst/>
          </a:prstGeom>
          <a:noFill/>
        </p:spPr>
        <p:txBody>
          <a:bodyPr wrap="square">
            <a:spAutoFit/>
          </a:bodyPr>
          <a:lstStyle/>
          <a:p>
            <a:pPr algn="l">
              <a:lnSpc>
                <a:spcPct val="135000"/>
              </a:lnSpc>
            </a:pPr>
            <a:r>
              <a:rPr sz="1300" b="0" i="0">
                <a:solidFill>
                  <a:srgbClr val="6E7C8C"/>
                </a:solidFill>
                <a:latin typeface="DM Sans"/>
              </a:rPr>
              <a:t>Each signal - acoustic, linguistic, and clinical - is scored independently first, then combined into one weighted estimate using an additive model. Each term's share in the final number is the real, mathematically exact contribution, not an approximation.</a:t>
            </a:r>
          </a:p>
        </p:txBody>
      </p:sp>
      <p:sp>
        <p:nvSpPr>
          <p:cNvPr id="6" name="Rounded Rectangle 5"/>
          <p:cNvSpPr/>
          <p:nvPr/>
        </p:nvSpPr>
        <p:spPr>
          <a:xfrm>
            <a:off x="685800" y="2834640"/>
            <a:ext cx="2270683" cy="118872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C6FBA"/>
                </a:solidFill>
                <a:latin typeface="Georgia"/>
              </a:rPr>
              <a:t>3</a:t>
            </a:r>
          </a:p>
          <a:p>
            <a:pPr algn="ctr"/>
            <a:r>
              <a:rPr sz="950">
                <a:solidFill>
                  <a:srgbClr val="6E7C8C"/>
                </a:solidFill>
              </a:rPr>
              <a:t>FUSED SIGNALS</a:t>
            </a:r>
          </a:p>
        </p:txBody>
      </p:sp>
      <p:sp>
        <p:nvSpPr>
          <p:cNvPr id="7" name="Rounded Rectangle 6"/>
          <p:cNvSpPr/>
          <p:nvPr/>
        </p:nvSpPr>
        <p:spPr>
          <a:xfrm>
            <a:off x="3230803" y="2834640"/>
            <a:ext cx="2270683" cy="118872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C6FBA"/>
                </a:solidFill>
                <a:latin typeface="Georgia"/>
              </a:rPr>
              <a:t>27</a:t>
            </a:r>
          </a:p>
          <a:p>
            <a:pPr algn="ctr"/>
            <a:r>
              <a:rPr sz="950">
                <a:solidFill>
                  <a:srgbClr val="6E7C8C"/>
                </a:solidFill>
              </a:rPr>
              <a:t>PHQ-9 MAX</a:t>
            </a:r>
          </a:p>
        </p:txBody>
      </p:sp>
      <p:sp>
        <p:nvSpPr>
          <p:cNvPr id="8" name="Rounded Rectangle 7"/>
          <p:cNvSpPr/>
          <p:nvPr/>
        </p:nvSpPr>
        <p:spPr>
          <a:xfrm>
            <a:off x="5775807" y="2834640"/>
            <a:ext cx="2270683" cy="118872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C6FBA"/>
                </a:solidFill>
                <a:latin typeface="Georgia"/>
              </a:rPr>
              <a:t>21</a:t>
            </a:r>
          </a:p>
          <a:p>
            <a:pPr algn="ctr"/>
            <a:r>
              <a:rPr sz="950">
                <a:solidFill>
                  <a:srgbClr val="6E7C8C"/>
                </a:solidFill>
              </a:rPr>
              <a:t>GAD-7 MAX</a:t>
            </a:r>
          </a:p>
        </p:txBody>
      </p:sp>
      <p:sp>
        <p:nvSpPr>
          <p:cNvPr id="9" name="Rounded Rectangle 8"/>
          <p:cNvSpPr/>
          <p:nvPr/>
        </p:nvSpPr>
        <p:spPr>
          <a:xfrm>
            <a:off x="8320811" y="2834640"/>
            <a:ext cx="2270683" cy="118872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C6FBA"/>
                </a:solidFill>
                <a:latin typeface="Georgia"/>
              </a:rPr>
              <a:t>50</a:t>
            </a:r>
          </a:p>
          <a:p>
            <a:pPr algn="ctr"/>
            <a:r>
              <a:rPr sz="950">
                <a:solidFill>
                  <a:srgbClr val="6E7C8C"/>
                </a:solidFill>
              </a:rPr>
              <a:t>K10 MAX</a:t>
            </a:r>
          </a:p>
        </p:txBody>
      </p:sp>
      <p:sp>
        <p:nvSpPr>
          <p:cNvPr id="10" name="TextBox 9"/>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11" name="TextBox 10"/>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03 / THE PRODUCT</a:t>
            </a:r>
          </a:p>
        </p:txBody>
      </p:sp>
      <p:sp>
        <p:nvSpPr>
          <p:cNvPr id="4" name="TextBox 3"/>
          <p:cNvSpPr txBox="1"/>
          <p:nvPr/>
        </p:nvSpPr>
        <p:spPr>
          <a:xfrm>
            <a:off x="685800" y="777240"/>
            <a:ext cx="10515600" cy="1280160"/>
          </a:xfrm>
          <a:prstGeom prst="rect">
            <a:avLst/>
          </a:prstGeom>
          <a:noFill/>
        </p:spPr>
        <p:txBody>
          <a:bodyPr wrap="square">
            <a:spAutoFit/>
          </a:bodyPr>
          <a:lstStyle/>
          <a:p>
            <a:pPr algn="l">
              <a:lnSpc>
                <a:spcPct val="110000"/>
              </a:lnSpc>
            </a:pPr>
            <a:r>
              <a:rPr sz="3200" b="1" i="0">
                <a:solidFill>
                  <a:srgbClr val="24344A"/>
                </a:solidFill>
                <a:latin typeface="Georgia"/>
              </a:rPr>
              <a:t>MindHx AI - a real grounded reply,</a:t>
            </a:r>
          </a:p>
          <a:p>
            <a:pPr algn="l">
              <a:lnSpc>
                <a:spcPct val="110000"/>
              </a:lnSpc>
            </a:pPr>
            <a:r>
              <a:rPr sz="3200" b="1" i="0">
                <a:solidFill>
                  <a:srgbClr val="24344A"/>
                </a:solidFill>
                <a:latin typeface="Georgia"/>
              </a:rPr>
              <a:t>not a canned demo.</a:t>
            </a:r>
          </a:p>
        </p:txBody>
      </p:sp>
      <p:pic>
        <p:nvPicPr>
          <p:cNvPr id="5" name="Picture 4" descr="chat-working-en.jpg"/>
          <p:cNvPicPr>
            <a:picLocks noChangeAspect="1"/>
          </p:cNvPicPr>
          <p:nvPr/>
        </p:nvPicPr>
        <p:blipFill>
          <a:blip r:embed="rId2"/>
          <a:stretch>
            <a:fillRect/>
          </a:stretch>
        </p:blipFill>
        <p:spPr>
          <a:xfrm>
            <a:off x="3052945" y="2286000"/>
            <a:ext cx="6055629" cy="3657600"/>
          </a:xfrm>
          <a:prstGeom prst="rect">
            <a:avLst/>
          </a:prstGeom>
        </p:spPr>
      </p:pic>
      <p:sp>
        <p:nvSpPr>
          <p:cNvPr id="6" name="TextBox 5"/>
          <p:cNvSpPr txBox="1"/>
          <p:nvPr/>
        </p:nvSpPr>
        <p:spPr>
          <a:xfrm>
            <a:off x="685800" y="6035040"/>
            <a:ext cx="10789920" cy="365760"/>
          </a:xfrm>
          <a:prstGeom prst="rect">
            <a:avLst/>
          </a:prstGeom>
          <a:noFill/>
        </p:spPr>
        <p:txBody>
          <a:bodyPr wrap="square">
            <a:spAutoFit/>
          </a:bodyPr>
          <a:lstStyle/>
          <a:p>
            <a:pPr algn="ctr">
              <a:lnSpc>
                <a:spcPct val="120000"/>
              </a:lnSpc>
            </a:pPr>
            <a:r>
              <a:rPr sz="1100" b="0" i="0">
                <a:solidFill>
                  <a:srgbClr val="6E7C8C"/>
                </a:solidFill>
                <a:latin typeface="DM Mono"/>
              </a:rPr>
              <a:t>A live exchange, answered from the reviewed reference library</a:t>
            </a:r>
          </a:p>
        </p:txBody>
      </p:sp>
      <p:sp>
        <p:nvSpPr>
          <p:cNvPr id="7" name="TextBox 6"/>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8" name="TextBox 7"/>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04 / THE AI CHATBOT — EVERYDAY SUPPORT</a:t>
            </a:r>
          </a:p>
        </p:txBody>
      </p:sp>
      <p:sp>
        <p:nvSpPr>
          <p:cNvPr id="4" name="TextBox 3"/>
          <p:cNvSpPr txBox="1"/>
          <p:nvPr/>
        </p:nvSpPr>
        <p:spPr>
          <a:xfrm>
            <a:off x="685800" y="777240"/>
            <a:ext cx="10607040" cy="1371600"/>
          </a:xfrm>
          <a:prstGeom prst="rect">
            <a:avLst/>
          </a:prstGeom>
          <a:noFill/>
        </p:spPr>
        <p:txBody>
          <a:bodyPr wrap="square">
            <a:spAutoFit/>
          </a:bodyPr>
          <a:lstStyle/>
          <a:p>
            <a:pPr algn="l">
              <a:lnSpc>
                <a:spcPct val="112000"/>
              </a:lnSpc>
            </a:pPr>
            <a:r>
              <a:rPr sz="2800" b="1" i="0">
                <a:solidFill>
                  <a:srgbClr val="24344A"/>
                </a:solidFill>
                <a:latin typeface="Georgia"/>
              </a:rPr>
              <a:t>A middle ground between doing</a:t>
            </a:r>
          </a:p>
          <a:p>
            <a:pPr algn="l">
              <a:lnSpc>
                <a:spcPct val="112000"/>
              </a:lnSpc>
            </a:pPr>
            <a:r>
              <a:rPr sz="2800" b="1" i="0">
                <a:solidFill>
                  <a:srgbClr val="24344A"/>
                </a:solidFill>
                <a:latin typeface="Georgia"/>
              </a:rPr>
              <a:t>nothing and seeing a professional</a:t>
            </a:r>
          </a:p>
        </p:txBody>
      </p:sp>
      <p:sp>
        <p:nvSpPr>
          <p:cNvPr id="5" name="TextBox 4"/>
          <p:cNvSpPr txBox="1"/>
          <p:nvPr/>
        </p:nvSpPr>
        <p:spPr>
          <a:xfrm>
            <a:off x="685800" y="2286000"/>
            <a:ext cx="10789920" cy="1280160"/>
          </a:xfrm>
          <a:prstGeom prst="rect">
            <a:avLst/>
          </a:prstGeom>
          <a:noFill/>
        </p:spPr>
        <p:txBody>
          <a:bodyPr wrap="square">
            <a:spAutoFit/>
          </a:bodyPr>
          <a:lstStyle/>
          <a:p>
            <a:pPr algn="l">
              <a:lnSpc>
                <a:spcPct val="135000"/>
              </a:lnSpc>
            </a:pPr>
            <a:r>
              <a:rPr sz="1300" b="0" i="0">
                <a:solidFill>
                  <a:srgbClr val="6E7C8C"/>
                </a:solidFill>
                <a:latin typeface="DM Sans"/>
              </a:rPr>
              <a:t>MindHx also includes an AI chatbot built for everyday stress, anxiety, and burnout - the kind of thing most people never bring up with anyone. It only answers from a fixed, reviewed set of information, so there is no risk of unsafe advice.</a:t>
            </a:r>
          </a:p>
        </p:txBody>
      </p:sp>
      <p:sp>
        <p:nvSpPr>
          <p:cNvPr id="6" name="TextBox 5"/>
          <p:cNvSpPr txBox="1"/>
          <p:nvPr/>
        </p:nvSpPr>
        <p:spPr>
          <a:xfrm>
            <a:off x="685800" y="3657600"/>
            <a:ext cx="10789920" cy="1280160"/>
          </a:xfrm>
          <a:prstGeom prst="rect">
            <a:avLst/>
          </a:prstGeom>
          <a:noFill/>
        </p:spPr>
        <p:txBody>
          <a:bodyPr wrap="square">
            <a:spAutoFit/>
          </a:bodyPr>
          <a:lstStyle/>
          <a:p>
            <a:pPr algn="l">
              <a:lnSpc>
                <a:spcPct val="135000"/>
              </a:lnSpc>
            </a:pPr>
            <a:r>
              <a:rPr sz="1300" b="0" i="0">
                <a:solidFill>
                  <a:srgbClr val="6E7C8C"/>
                </a:solidFill>
                <a:latin typeface="DM Sans"/>
              </a:rPr>
              <a:t>Most people here never see a professional for smaller issues like poor sleep, work pressure, or daily anxiety. Through the chatbot they get simple meditation techniques and basic therapy approaches right away - no appointment, no waiting.</a:t>
            </a:r>
          </a:p>
        </p:txBody>
      </p:sp>
      <p:sp>
        <p:nvSpPr>
          <p:cNvPr id="7" name="TextBox 6"/>
          <p:cNvSpPr txBox="1"/>
          <p:nvPr/>
        </p:nvSpPr>
        <p:spPr>
          <a:xfrm>
            <a:off x="685800" y="5029200"/>
            <a:ext cx="10789920" cy="1280160"/>
          </a:xfrm>
          <a:prstGeom prst="rect">
            <a:avLst/>
          </a:prstGeom>
          <a:noFill/>
        </p:spPr>
        <p:txBody>
          <a:bodyPr wrap="square">
            <a:spAutoFit/>
          </a:bodyPr>
          <a:lstStyle/>
          <a:p>
            <a:pPr algn="l">
              <a:lnSpc>
                <a:spcPct val="135000"/>
              </a:lnSpc>
            </a:pPr>
            <a:r>
              <a:rPr sz="1300" b="0" i="1">
                <a:solidFill>
                  <a:srgbClr val="2F8F6E"/>
                </a:solidFill>
                <a:latin typeface="DM Sans"/>
              </a:rPr>
              <a:t>It fills a middle ground. Not a replacement for real treatment, but not leaving someone with nothing either. If the conversation turns serious, it stops and redirects to emergency support instead of continuing.</a:t>
            </a:r>
          </a:p>
        </p:txBody>
      </p:sp>
      <p:sp>
        <p:nvSpPr>
          <p:cNvPr id="8" name="TextBox 7"/>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9" name="TextBox 8"/>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03 / THE PRODUCT</a:t>
            </a:r>
          </a:p>
        </p:txBody>
      </p:sp>
      <p:sp>
        <p:nvSpPr>
          <p:cNvPr id="4" name="TextBox 3"/>
          <p:cNvSpPr txBox="1"/>
          <p:nvPr/>
        </p:nvSpPr>
        <p:spPr>
          <a:xfrm>
            <a:off x="685800" y="777240"/>
            <a:ext cx="10515600" cy="1280160"/>
          </a:xfrm>
          <a:prstGeom prst="rect">
            <a:avLst/>
          </a:prstGeom>
          <a:noFill/>
        </p:spPr>
        <p:txBody>
          <a:bodyPr wrap="square">
            <a:spAutoFit/>
          </a:bodyPr>
          <a:lstStyle/>
          <a:p>
            <a:pPr algn="l">
              <a:lnSpc>
                <a:spcPct val="110000"/>
              </a:lnSpc>
            </a:pPr>
            <a:r>
              <a:rPr sz="3200" b="1" i="0">
                <a:solidFill>
                  <a:srgbClr val="24344A"/>
                </a:solidFill>
                <a:latin typeface="Georgia"/>
              </a:rPr>
              <a:t>A practice library with</a:t>
            </a:r>
          </a:p>
          <a:p>
            <a:pPr algn="l">
              <a:lnSpc>
                <a:spcPct val="110000"/>
              </a:lnSpc>
            </a:pPr>
            <a:r>
              <a:rPr sz="3200" b="1" i="0">
                <a:solidFill>
                  <a:srgbClr val="24344A"/>
                </a:solidFill>
                <a:latin typeface="Georgia"/>
              </a:rPr>
              <a:t>step-by-step 3D icons.</a:t>
            </a:r>
          </a:p>
        </p:txBody>
      </p:sp>
      <p:pic>
        <p:nvPicPr>
          <p:cNvPr id="5" name="Picture 4" descr="meditation-grounding.jpg"/>
          <p:cNvPicPr>
            <a:picLocks noChangeAspect="1"/>
          </p:cNvPicPr>
          <p:nvPr/>
        </p:nvPicPr>
        <p:blipFill>
          <a:blip r:embed="rId2"/>
          <a:stretch>
            <a:fillRect/>
          </a:stretch>
        </p:blipFill>
        <p:spPr>
          <a:xfrm>
            <a:off x="685800" y="2522646"/>
            <a:ext cx="5120640" cy="3092866"/>
          </a:xfrm>
          <a:prstGeom prst="rect">
            <a:avLst/>
          </a:prstGeom>
        </p:spPr>
      </p:pic>
      <p:sp>
        <p:nvSpPr>
          <p:cNvPr id="6" name="TextBox 5"/>
          <p:cNvSpPr txBox="1"/>
          <p:nvPr/>
        </p:nvSpPr>
        <p:spPr>
          <a:xfrm>
            <a:off x="685800" y="5897880"/>
            <a:ext cx="5120640" cy="365760"/>
          </a:xfrm>
          <a:prstGeom prst="rect">
            <a:avLst/>
          </a:prstGeom>
          <a:noFill/>
        </p:spPr>
        <p:txBody>
          <a:bodyPr wrap="square">
            <a:spAutoFit/>
          </a:bodyPr>
          <a:lstStyle/>
          <a:p>
            <a:pPr algn="ctr">
              <a:lnSpc>
                <a:spcPct val="120000"/>
              </a:lnSpc>
            </a:pPr>
            <a:r>
              <a:rPr sz="1050" b="0" i="0">
                <a:solidFill>
                  <a:srgbClr val="6E7C8C"/>
                </a:solidFill>
                <a:latin typeface="DM Mono"/>
              </a:rPr>
              <a:t>5-4-3-2-1 grounding - original 3D step icons</a:t>
            </a:r>
          </a:p>
        </p:txBody>
      </p:sp>
      <p:pic>
        <p:nvPicPr>
          <p:cNvPr id="7" name="Picture 6" descr="therapy-cbt.jpg"/>
          <p:cNvPicPr>
            <a:picLocks noChangeAspect="1"/>
          </p:cNvPicPr>
          <p:nvPr/>
        </p:nvPicPr>
        <p:blipFill>
          <a:blip r:embed="rId3"/>
          <a:stretch>
            <a:fillRect/>
          </a:stretch>
        </p:blipFill>
        <p:spPr>
          <a:xfrm>
            <a:off x="6355080" y="2522646"/>
            <a:ext cx="5120640" cy="3092866"/>
          </a:xfrm>
          <a:prstGeom prst="rect">
            <a:avLst/>
          </a:prstGeom>
        </p:spPr>
      </p:pic>
      <p:sp>
        <p:nvSpPr>
          <p:cNvPr id="8" name="TextBox 7"/>
          <p:cNvSpPr txBox="1"/>
          <p:nvPr/>
        </p:nvSpPr>
        <p:spPr>
          <a:xfrm>
            <a:off x="6355080" y="5897880"/>
            <a:ext cx="5120640" cy="365760"/>
          </a:xfrm>
          <a:prstGeom prst="rect">
            <a:avLst/>
          </a:prstGeom>
          <a:noFill/>
        </p:spPr>
        <p:txBody>
          <a:bodyPr wrap="square">
            <a:spAutoFit/>
          </a:bodyPr>
          <a:lstStyle/>
          <a:p>
            <a:pPr algn="ctr">
              <a:lnSpc>
                <a:spcPct val="120000"/>
              </a:lnSpc>
            </a:pPr>
            <a:r>
              <a:rPr sz="1050" b="0" i="0">
                <a:solidFill>
                  <a:srgbClr val="6E7C8C"/>
                </a:solidFill>
                <a:latin typeface="DM Mono"/>
              </a:rPr>
              <a:t>CBT - what sessions may include</a:t>
            </a:r>
          </a:p>
        </p:txBody>
      </p:sp>
      <p:sp>
        <p:nvSpPr>
          <p:cNvPr id="9" name="TextBox 8"/>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10" name="TextBox 9"/>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05 / THERAPY APPROACHES</a:t>
            </a:r>
          </a:p>
        </p:txBody>
      </p:sp>
      <p:sp>
        <p:nvSpPr>
          <p:cNvPr id="4" name="TextBox 3"/>
          <p:cNvSpPr txBox="1"/>
          <p:nvPr/>
        </p:nvSpPr>
        <p:spPr>
          <a:xfrm>
            <a:off x="685800" y="731520"/>
            <a:ext cx="10607040" cy="1005840"/>
          </a:xfrm>
          <a:prstGeom prst="rect">
            <a:avLst/>
          </a:prstGeom>
          <a:noFill/>
        </p:spPr>
        <p:txBody>
          <a:bodyPr wrap="square">
            <a:spAutoFit/>
          </a:bodyPr>
          <a:lstStyle/>
          <a:p>
            <a:pPr algn="l">
              <a:lnSpc>
                <a:spcPct val="112000"/>
              </a:lnSpc>
            </a:pPr>
            <a:r>
              <a:rPr sz="3200" b="1" i="0">
                <a:solidFill>
                  <a:srgbClr val="24344A"/>
                </a:solidFill>
                <a:latin typeface="Georgia"/>
              </a:rPr>
              <a:t>There is more than</a:t>
            </a:r>
          </a:p>
          <a:p>
            <a:pPr algn="l">
              <a:lnSpc>
                <a:spcPct val="112000"/>
              </a:lnSpc>
            </a:pPr>
            <a:r>
              <a:rPr sz="3200" b="1" i="0">
                <a:solidFill>
                  <a:srgbClr val="24344A"/>
                </a:solidFill>
                <a:latin typeface="Georgia"/>
              </a:rPr>
              <a:t>one path to support.</a:t>
            </a:r>
          </a:p>
        </p:txBody>
      </p:sp>
      <p:sp>
        <p:nvSpPr>
          <p:cNvPr id="5" name="Rounded Rectangle 4"/>
          <p:cNvSpPr/>
          <p:nvPr/>
        </p:nvSpPr>
        <p:spPr>
          <a:xfrm>
            <a:off x="685800" y="1920240"/>
            <a:ext cx="3149498" cy="141732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a:lstStyle/>
          <a:p>
            <a:pPr algn="ctr"/>
            <a:r>
              <a:rPr sz="850" b="1">
                <a:solidFill>
                  <a:srgbClr val="2C6FBA"/>
                </a:solidFill>
                <a:latin typeface="DM Mono"/>
              </a:rPr>
              <a:t>APPROACH</a:t>
            </a:r>
          </a:p>
          <a:p>
            <a:pPr>
              <a:spcBef>
                <a:spcPts val="300"/>
              </a:spcBef>
            </a:pPr>
            <a:r>
              <a:rPr sz="1300" b="1">
                <a:solidFill>
                  <a:srgbClr val="24344A"/>
                </a:solidFill>
              </a:rPr>
              <a:t>CBT</a:t>
            </a:r>
          </a:p>
          <a:p>
            <a:pPr>
              <a:spcBef>
                <a:spcPts val="400"/>
              </a:spcBef>
            </a:pPr>
            <a:r>
              <a:rPr sz="950">
                <a:solidFill>
                  <a:srgbClr val="6E7C8C"/>
                </a:solidFill>
              </a:rPr>
              <a:t>Cognitive behavioral therapy explores patterns between thoughts, feelings, and behavior.</a:t>
            </a:r>
          </a:p>
        </p:txBody>
      </p:sp>
      <p:sp>
        <p:nvSpPr>
          <p:cNvPr id="6" name="Rounded Rectangle 5"/>
          <p:cNvSpPr/>
          <p:nvPr/>
        </p:nvSpPr>
        <p:spPr>
          <a:xfrm>
            <a:off x="4063898" y="1920240"/>
            <a:ext cx="3149498" cy="141732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a:lstStyle/>
          <a:p>
            <a:pPr algn="ctr"/>
            <a:r>
              <a:rPr sz="850" b="1">
                <a:solidFill>
                  <a:srgbClr val="2F8F6E"/>
                </a:solidFill>
                <a:latin typeface="DM Mono"/>
              </a:rPr>
              <a:t>APPROACH</a:t>
            </a:r>
          </a:p>
          <a:p>
            <a:pPr>
              <a:spcBef>
                <a:spcPts val="300"/>
              </a:spcBef>
            </a:pPr>
            <a:r>
              <a:rPr sz="1300" b="1">
                <a:solidFill>
                  <a:srgbClr val="24344A"/>
                </a:solidFill>
              </a:rPr>
              <a:t>DBT</a:t>
            </a:r>
          </a:p>
          <a:p>
            <a:pPr>
              <a:spcBef>
                <a:spcPts val="400"/>
              </a:spcBef>
            </a:pPr>
            <a:r>
              <a:rPr sz="950">
                <a:solidFill>
                  <a:srgbClr val="6E7C8C"/>
                </a:solidFill>
              </a:rPr>
              <a:t>Dialectical behavior therapy teaches emotion regulation, distress tolerance, and interpersonal skills.</a:t>
            </a:r>
          </a:p>
        </p:txBody>
      </p:sp>
      <p:sp>
        <p:nvSpPr>
          <p:cNvPr id="7" name="Rounded Rectangle 6"/>
          <p:cNvSpPr/>
          <p:nvPr/>
        </p:nvSpPr>
        <p:spPr>
          <a:xfrm>
            <a:off x="7441996" y="1920240"/>
            <a:ext cx="3149498" cy="141732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a:lstStyle/>
          <a:p>
            <a:pPr algn="ctr"/>
            <a:r>
              <a:rPr sz="850" b="1">
                <a:solidFill>
                  <a:srgbClr val="E98232"/>
                </a:solidFill>
                <a:latin typeface="DM Mono"/>
              </a:rPr>
              <a:t>APPROACH</a:t>
            </a:r>
          </a:p>
          <a:p>
            <a:pPr>
              <a:spcBef>
                <a:spcPts val="300"/>
              </a:spcBef>
            </a:pPr>
            <a:r>
              <a:rPr sz="1300" b="1">
                <a:solidFill>
                  <a:srgbClr val="24344A"/>
                </a:solidFill>
              </a:rPr>
              <a:t>Exposure therapy</a:t>
            </a:r>
          </a:p>
          <a:p>
            <a:pPr>
              <a:spcBef>
                <a:spcPts val="400"/>
              </a:spcBef>
            </a:pPr>
            <a:r>
              <a:rPr sz="950">
                <a:solidFill>
                  <a:srgbClr val="6E7C8C"/>
                </a:solidFill>
              </a:rPr>
              <a:t>A clinician-guided approach for some anxiety and fear responses.</a:t>
            </a:r>
          </a:p>
        </p:txBody>
      </p:sp>
      <p:sp>
        <p:nvSpPr>
          <p:cNvPr id="8" name="Rounded Rectangle 7"/>
          <p:cNvSpPr/>
          <p:nvPr/>
        </p:nvSpPr>
        <p:spPr>
          <a:xfrm>
            <a:off x="685800" y="3520440"/>
            <a:ext cx="3149498" cy="141732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a:lstStyle/>
          <a:p>
            <a:pPr algn="ctr"/>
            <a:r>
              <a:rPr sz="850" b="1">
                <a:solidFill>
                  <a:srgbClr val="C84F4F"/>
                </a:solidFill>
                <a:latin typeface="DM Mono"/>
              </a:rPr>
              <a:t>APPROACH</a:t>
            </a:r>
          </a:p>
          <a:p>
            <a:pPr>
              <a:spcBef>
                <a:spcPts val="300"/>
              </a:spcBef>
            </a:pPr>
            <a:r>
              <a:rPr sz="1300" b="1">
                <a:solidFill>
                  <a:srgbClr val="24344A"/>
                </a:solidFill>
              </a:rPr>
              <a:t>Trauma-informed therapy</a:t>
            </a:r>
          </a:p>
          <a:p>
            <a:pPr>
              <a:spcBef>
                <a:spcPts val="400"/>
              </a:spcBef>
            </a:pPr>
            <a:r>
              <a:rPr sz="950">
                <a:solidFill>
                  <a:srgbClr val="6E7C8C"/>
                </a:solidFill>
              </a:rPr>
              <a:t>A safety-led approach that respects pacing, choice, and control.</a:t>
            </a:r>
          </a:p>
        </p:txBody>
      </p:sp>
      <p:sp>
        <p:nvSpPr>
          <p:cNvPr id="9" name="Rounded Rectangle 8"/>
          <p:cNvSpPr/>
          <p:nvPr/>
        </p:nvSpPr>
        <p:spPr>
          <a:xfrm>
            <a:off x="4063898" y="3520440"/>
            <a:ext cx="3149498" cy="141732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a:lstStyle/>
          <a:p>
            <a:pPr algn="ctr"/>
            <a:r>
              <a:rPr sz="850" b="1">
                <a:solidFill>
                  <a:srgbClr val="2C6FBA"/>
                </a:solidFill>
                <a:latin typeface="DM Mono"/>
              </a:rPr>
              <a:t>APPROACH</a:t>
            </a:r>
          </a:p>
          <a:p>
            <a:pPr>
              <a:spcBef>
                <a:spcPts val="300"/>
              </a:spcBef>
            </a:pPr>
            <a:r>
              <a:rPr sz="1300" b="1">
                <a:solidFill>
                  <a:srgbClr val="24344A"/>
                </a:solidFill>
              </a:rPr>
              <a:t>Medical review</a:t>
            </a:r>
          </a:p>
          <a:p>
            <a:pPr>
              <a:spcBef>
                <a:spcPts val="400"/>
              </a:spcBef>
            </a:pPr>
            <a:r>
              <a:rPr sz="950">
                <a:solidFill>
                  <a:srgbClr val="6E7C8C"/>
                </a:solidFill>
              </a:rPr>
              <a:t>Primary-care or psychiatric review can consider physical contributors, sleep, medicines, and safety.</a:t>
            </a:r>
          </a:p>
        </p:txBody>
      </p:sp>
      <p:sp>
        <p:nvSpPr>
          <p:cNvPr id="10" name="Rounded Rectangle 9"/>
          <p:cNvSpPr/>
          <p:nvPr/>
        </p:nvSpPr>
        <p:spPr>
          <a:xfrm>
            <a:off x="7441996" y="3520440"/>
            <a:ext cx="3149498" cy="141732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a:lstStyle/>
          <a:p>
            <a:pPr algn="ctr"/>
            <a:r>
              <a:rPr sz="850" b="1">
                <a:solidFill>
                  <a:srgbClr val="2F8F6E"/>
                </a:solidFill>
                <a:latin typeface="DM Mono"/>
              </a:rPr>
              <a:t>APPROACH</a:t>
            </a:r>
          </a:p>
          <a:p>
            <a:pPr>
              <a:spcBef>
                <a:spcPts val="300"/>
              </a:spcBef>
            </a:pPr>
            <a:r>
              <a:rPr sz="1300" b="1">
                <a:solidFill>
                  <a:srgbClr val="24344A"/>
                </a:solidFill>
              </a:rPr>
              <a:t>Peer support groups</a:t>
            </a:r>
          </a:p>
          <a:p>
            <a:pPr>
              <a:spcBef>
                <a:spcPts val="400"/>
              </a:spcBef>
            </a:pPr>
            <a:r>
              <a:rPr sz="950">
                <a:solidFill>
                  <a:srgbClr val="6E7C8C"/>
                </a:solidFill>
              </a:rPr>
              <a:t>Structured groups where people with similar experiences share support under trained facilitation.</a:t>
            </a:r>
          </a:p>
        </p:txBody>
      </p:sp>
      <p:sp>
        <p:nvSpPr>
          <p:cNvPr id="11" name="TextBox 10"/>
          <p:cNvSpPr txBox="1"/>
          <p:nvPr/>
        </p:nvSpPr>
        <p:spPr>
          <a:xfrm>
            <a:off x="0" y="5166359"/>
            <a:ext cx="12191695" cy="365760"/>
          </a:xfrm>
          <a:prstGeom prst="rect">
            <a:avLst/>
          </a:prstGeom>
          <a:noFill/>
        </p:spPr>
        <p:txBody>
          <a:bodyPr wrap="square">
            <a:spAutoFit/>
          </a:bodyPr>
          <a:lstStyle/>
          <a:p>
            <a:pPr algn="ctr">
              <a:lnSpc>
                <a:spcPct val="120000"/>
              </a:lnSpc>
            </a:pPr>
            <a:r>
              <a:rPr sz="1200" b="1" i="0">
                <a:solidFill>
                  <a:srgbClr val="7A4318"/>
                </a:solidFill>
                <a:latin typeface="DM Sans"/>
              </a:rPr>
              <a:t>Discuss treatment with a professional →</a:t>
            </a:r>
          </a:p>
        </p:txBody>
      </p:sp>
      <p:sp>
        <p:nvSpPr>
          <p:cNvPr id="12" name="TextBox 11"/>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13" name="TextBox 12"/>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03 / THE PRODUCT</a:t>
            </a:r>
          </a:p>
        </p:txBody>
      </p:sp>
      <p:sp>
        <p:nvSpPr>
          <p:cNvPr id="4" name="TextBox 3"/>
          <p:cNvSpPr txBox="1"/>
          <p:nvPr/>
        </p:nvSpPr>
        <p:spPr>
          <a:xfrm>
            <a:off x="685800" y="777240"/>
            <a:ext cx="10515600" cy="1280160"/>
          </a:xfrm>
          <a:prstGeom prst="rect">
            <a:avLst/>
          </a:prstGeom>
          <a:noFill/>
        </p:spPr>
        <p:txBody>
          <a:bodyPr wrap="square">
            <a:spAutoFit/>
          </a:bodyPr>
          <a:lstStyle/>
          <a:p>
            <a:pPr algn="l">
              <a:lnSpc>
                <a:spcPct val="110000"/>
              </a:lnSpc>
            </a:pPr>
            <a:r>
              <a:rPr sz="3200" b="1" i="0">
                <a:solidFill>
                  <a:srgbClr val="24344A"/>
                </a:solidFill>
                <a:latin typeface="Georgia"/>
              </a:rPr>
              <a:t>From a private check-in</a:t>
            </a:r>
          </a:p>
          <a:p>
            <a:pPr algn="l">
              <a:lnSpc>
                <a:spcPct val="110000"/>
              </a:lnSpc>
            </a:pPr>
            <a:r>
              <a:rPr sz="3200" b="1" i="0">
                <a:solidFill>
                  <a:srgbClr val="24344A"/>
                </a:solidFill>
                <a:latin typeface="Georgia"/>
              </a:rPr>
              <a:t>to a real next step.</a:t>
            </a:r>
          </a:p>
        </p:txBody>
      </p:sp>
      <p:pic>
        <p:nvPicPr>
          <p:cNvPr id="5" name="Picture 4" descr="therapist.jpg"/>
          <p:cNvPicPr>
            <a:picLocks noChangeAspect="1"/>
          </p:cNvPicPr>
          <p:nvPr/>
        </p:nvPicPr>
        <p:blipFill>
          <a:blip r:embed="rId2"/>
          <a:stretch>
            <a:fillRect/>
          </a:stretch>
        </p:blipFill>
        <p:spPr>
          <a:xfrm>
            <a:off x="685800" y="2522646"/>
            <a:ext cx="5120640" cy="3092866"/>
          </a:xfrm>
          <a:prstGeom prst="rect">
            <a:avLst/>
          </a:prstGeom>
        </p:spPr>
      </p:pic>
      <p:sp>
        <p:nvSpPr>
          <p:cNvPr id="6" name="TextBox 5"/>
          <p:cNvSpPr txBox="1"/>
          <p:nvPr/>
        </p:nvSpPr>
        <p:spPr>
          <a:xfrm>
            <a:off x="685800" y="5897880"/>
            <a:ext cx="5120640" cy="365760"/>
          </a:xfrm>
          <a:prstGeom prst="rect">
            <a:avLst/>
          </a:prstGeom>
          <a:noFill/>
        </p:spPr>
        <p:txBody>
          <a:bodyPr wrap="square">
            <a:spAutoFit/>
          </a:bodyPr>
          <a:lstStyle/>
          <a:p>
            <a:pPr algn="ctr">
              <a:lnSpc>
                <a:spcPct val="120000"/>
              </a:lnSpc>
            </a:pPr>
            <a:r>
              <a:rPr sz="1050" b="0" i="0">
                <a:solidFill>
                  <a:srgbClr val="6E7C8C"/>
                </a:solidFill>
                <a:latin typeface="DM Mono"/>
              </a:rPr>
              <a:t>Verified Pakistan therapist directory</a:t>
            </a:r>
          </a:p>
        </p:txBody>
      </p:sp>
      <p:pic>
        <p:nvPicPr>
          <p:cNvPr id="7" name="Picture 6" descr="emergency.jpg"/>
          <p:cNvPicPr>
            <a:picLocks noChangeAspect="1"/>
          </p:cNvPicPr>
          <p:nvPr/>
        </p:nvPicPr>
        <p:blipFill>
          <a:blip r:embed="rId3"/>
          <a:stretch>
            <a:fillRect/>
          </a:stretch>
        </p:blipFill>
        <p:spPr>
          <a:xfrm>
            <a:off x="6355080" y="2522646"/>
            <a:ext cx="5120640" cy="3092866"/>
          </a:xfrm>
          <a:prstGeom prst="rect">
            <a:avLst/>
          </a:prstGeom>
        </p:spPr>
      </p:pic>
      <p:sp>
        <p:nvSpPr>
          <p:cNvPr id="8" name="TextBox 7"/>
          <p:cNvSpPr txBox="1"/>
          <p:nvPr/>
        </p:nvSpPr>
        <p:spPr>
          <a:xfrm>
            <a:off x="6355080" y="5897880"/>
            <a:ext cx="5120640" cy="365760"/>
          </a:xfrm>
          <a:prstGeom prst="rect">
            <a:avLst/>
          </a:prstGeom>
          <a:noFill/>
        </p:spPr>
        <p:txBody>
          <a:bodyPr wrap="square">
            <a:spAutoFit/>
          </a:bodyPr>
          <a:lstStyle/>
          <a:p>
            <a:pPr algn="ctr">
              <a:lnSpc>
                <a:spcPct val="120000"/>
              </a:lnSpc>
            </a:pPr>
            <a:r>
              <a:rPr sz="1050" b="0" i="0">
                <a:solidFill>
                  <a:srgbClr val="6E7C8C"/>
                </a:solidFill>
                <a:latin typeface="DM Mono"/>
              </a:rPr>
              <a:t>Emergency support</a:t>
            </a:r>
          </a:p>
        </p:txBody>
      </p:sp>
      <p:sp>
        <p:nvSpPr>
          <p:cNvPr id="9" name="TextBox 8"/>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10" name="TextBox 9"/>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05 / FINDING A THERAPIST</a:t>
            </a:r>
          </a:p>
        </p:txBody>
      </p:sp>
      <p:sp>
        <p:nvSpPr>
          <p:cNvPr id="4" name="TextBox 3"/>
          <p:cNvSpPr txBox="1"/>
          <p:nvPr/>
        </p:nvSpPr>
        <p:spPr>
          <a:xfrm>
            <a:off x="685800" y="777240"/>
            <a:ext cx="10607040" cy="1371600"/>
          </a:xfrm>
          <a:prstGeom prst="rect">
            <a:avLst/>
          </a:prstGeom>
          <a:noFill/>
        </p:spPr>
        <p:txBody>
          <a:bodyPr wrap="square">
            <a:spAutoFit/>
          </a:bodyPr>
          <a:lstStyle/>
          <a:p>
            <a:pPr algn="l">
              <a:lnSpc>
                <a:spcPct val="112000"/>
              </a:lnSpc>
            </a:pPr>
            <a:r>
              <a:rPr sz="3000" b="1" i="0">
                <a:solidFill>
                  <a:srgbClr val="24344A"/>
                </a:solidFill>
                <a:latin typeface="Georgia"/>
              </a:rPr>
              <a:t>Take the next step</a:t>
            </a:r>
          </a:p>
          <a:p>
            <a:pPr algn="l">
              <a:lnSpc>
                <a:spcPct val="112000"/>
              </a:lnSpc>
            </a:pPr>
            <a:r>
              <a:rPr sz="3000" b="1" i="0">
                <a:solidFill>
                  <a:srgbClr val="24344A"/>
                </a:solidFill>
                <a:latin typeface="Georgia"/>
              </a:rPr>
              <a:t>with a licensed professional.</a:t>
            </a:r>
          </a:p>
        </p:txBody>
      </p:sp>
      <p:sp>
        <p:nvSpPr>
          <p:cNvPr id="5" name="TextBox 4"/>
          <p:cNvSpPr txBox="1"/>
          <p:nvPr/>
        </p:nvSpPr>
        <p:spPr>
          <a:xfrm>
            <a:off x="685800" y="2286000"/>
            <a:ext cx="10789920" cy="1280160"/>
          </a:xfrm>
          <a:prstGeom prst="rect">
            <a:avLst/>
          </a:prstGeom>
          <a:noFill/>
        </p:spPr>
        <p:txBody>
          <a:bodyPr wrap="square">
            <a:spAutoFit/>
          </a:bodyPr>
          <a:lstStyle/>
          <a:p>
            <a:pPr algn="l">
              <a:lnSpc>
                <a:spcPct val="135000"/>
              </a:lnSpc>
            </a:pPr>
            <a:r>
              <a:rPr sz="1300" b="0" i="0">
                <a:solidFill>
                  <a:srgbClr val="6E7C8C"/>
                </a:solidFill>
                <a:latin typeface="DM Sans"/>
              </a:rPr>
              <a:t>Bring your MindHx screening results to a qualified clinician. They can review your context, symptoms, safety, medical history, and treatment options with you. MindHx flags elevated risk - only a clinician can assess or diagnose.</a:t>
            </a:r>
          </a:p>
        </p:txBody>
      </p:sp>
      <p:sp>
        <p:nvSpPr>
          <p:cNvPr id="6" name="TextBox 5"/>
          <p:cNvSpPr txBox="1"/>
          <p:nvPr/>
        </p:nvSpPr>
        <p:spPr>
          <a:xfrm>
            <a:off x="685800" y="3657600"/>
            <a:ext cx="10789920" cy="1280160"/>
          </a:xfrm>
          <a:prstGeom prst="rect">
            <a:avLst/>
          </a:prstGeom>
          <a:noFill/>
        </p:spPr>
        <p:txBody>
          <a:bodyPr wrap="square">
            <a:spAutoFit/>
          </a:bodyPr>
          <a:lstStyle/>
          <a:p>
            <a:pPr algn="l">
              <a:lnSpc>
                <a:spcPct val="135000"/>
              </a:lnSpc>
            </a:pPr>
            <a:r>
              <a:rPr sz="1300" b="0" i="0">
                <a:solidFill>
                  <a:srgbClr val="2F8F6E"/>
                </a:solidFill>
                <a:latin typeface="DM Sans"/>
              </a:rPr>
              <a:t>WHAT TO SAY: "I completed a mental-health screening and would like a professional evaluation." Use a regulated local provider directory, hospital service, university clinic, or established telehealth provider in your country.</a:t>
            </a:r>
          </a:p>
        </p:txBody>
      </p:sp>
      <p:sp>
        <p:nvSpPr>
          <p:cNvPr id="7" name="TextBox 6"/>
          <p:cNvSpPr txBox="1"/>
          <p:nvPr/>
        </p:nvSpPr>
        <p:spPr>
          <a:xfrm>
            <a:off x="685800" y="5212080"/>
            <a:ext cx="10789920" cy="1280160"/>
          </a:xfrm>
          <a:prstGeom prst="rect">
            <a:avLst/>
          </a:prstGeom>
          <a:noFill/>
        </p:spPr>
        <p:txBody>
          <a:bodyPr wrap="square">
            <a:spAutoFit/>
          </a:bodyPr>
          <a:lstStyle/>
          <a:p>
            <a:pPr algn="l">
              <a:lnSpc>
                <a:spcPct val="135000"/>
              </a:lnSpc>
            </a:pPr>
            <a:r>
              <a:rPr sz="1300" b="0" i="0">
                <a:solidFill>
                  <a:srgbClr val="2C6FBA"/>
                </a:solidFill>
                <a:latin typeface="DM Sans"/>
              </a:rPr>
              <a:t>BEFORE THE APPOINTMENT: Keep your PHQ-9, GAD-7, K10 results, text/voice explanation, current medicines, and questions ready if you choose to share them.</a:t>
            </a:r>
          </a:p>
        </p:txBody>
      </p:sp>
      <p:sp>
        <p:nvSpPr>
          <p:cNvPr id="8" name="TextBox 7"/>
          <p:cNvSpPr txBox="1"/>
          <p:nvPr/>
        </p:nvSpPr>
        <p:spPr>
          <a:xfrm>
            <a:off x="685800" y="6400800"/>
            <a:ext cx="10789920" cy="1280160"/>
          </a:xfrm>
          <a:prstGeom prst="rect">
            <a:avLst/>
          </a:prstGeom>
          <a:noFill/>
        </p:spPr>
        <p:txBody>
          <a:bodyPr wrap="square">
            <a:spAutoFit/>
          </a:bodyPr>
          <a:lstStyle/>
          <a:p>
            <a:pPr algn="l">
              <a:lnSpc>
                <a:spcPct val="135000"/>
              </a:lnSpc>
            </a:pPr>
            <a:r>
              <a:rPr sz="1300" b="0" i="1">
                <a:solidFill>
                  <a:srgbClr val="6E7C8C"/>
                </a:solidFill>
                <a:latin typeface="DM Sans"/>
              </a:rPr>
              <a:t>MindHx does not book appointments or provide emergency care.</a:t>
            </a:r>
          </a:p>
        </p:txBody>
      </p:sp>
      <p:sp>
        <p:nvSpPr>
          <p:cNvPr id="9" name="TextBox 8"/>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10" name="TextBox 9"/>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05 / FINDING A THERAPIST — FIND A PROFESSIONAL IN PAKISTAN</a:t>
            </a:r>
          </a:p>
        </p:txBody>
      </p:sp>
      <p:sp>
        <p:nvSpPr>
          <p:cNvPr id="4" name="TextBox 3"/>
          <p:cNvSpPr txBox="1"/>
          <p:nvPr/>
        </p:nvSpPr>
        <p:spPr>
          <a:xfrm>
            <a:off x="685800" y="731520"/>
            <a:ext cx="10607040" cy="548640"/>
          </a:xfrm>
          <a:prstGeom prst="rect">
            <a:avLst/>
          </a:prstGeom>
          <a:noFill/>
        </p:spPr>
        <p:txBody>
          <a:bodyPr wrap="square">
            <a:spAutoFit/>
          </a:bodyPr>
          <a:lstStyle/>
          <a:p>
            <a:pPr algn="l">
              <a:lnSpc>
                <a:spcPct val="120000"/>
              </a:lnSpc>
            </a:pPr>
            <a:r>
              <a:rPr sz="2800" b="1" i="0">
                <a:solidFill>
                  <a:srgbClr val="24344A"/>
                </a:solidFill>
                <a:latin typeface="Georgia"/>
              </a:rPr>
              <a:t>Search by city — known institutions (Karachi example)</a:t>
            </a:r>
          </a:p>
        </p:txBody>
      </p:sp>
      <p:sp>
        <p:nvSpPr>
          <p:cNvPr id="5" name="TextBox 4"/>
          <p:cNvSpPr txBox="1"/>
          <p:nvPr/>
        </p:nvSpPr>
        <p:spPr>
          <a:xfrm>
            <a:off x="685800" y="1417320"/>
            <a:ext cx="10789920" cy="731520"/>
          </a:xfrm>
          <a:prstGeom prst="rect">
            <a:avLst/>
          </a:prstGeom>
          <a:noFill/>
        </p:spPr>
        <p:txBody>
          <a:bodyPr wrap="square">
            <a:spAutoFit/>
          </a:bodyPr>
          <a:lstStyle/>
          <a:p>
            <a:pPr algn="l">
              <a:lnSpc>
                <a:spcPct val="135000"/>
              </a:lnSpc>
            </a:pPr>
            <a:r>
              <a:rPr sz="1250" b="0" i="0">
                <a:solidFill>
                  <a:srgbClr val="6E7C8C"/>
                </a:solidFill>
                <a:latin typeface="DM Sans"/>
              </a:rPr>
              <a:t>A starting point for finding psychiatrists and psychologists in Pakistan. This is not exhaustive and not an endorsement - confirm credentials and details yourself.</a:t>
            </a:r>
          </a:p>
        </p:txBody>
      </p:sp>
      <p:sp>
        <p:nvSpPr>
          <p:cNvPr id="6" name="Rounded Rectangle 5"/>
          <p:cNvSpPr/>
          <p:nvPr/>
        </p:nvSpPr>
        <p:spPr>
          <a:xfrm>
            <a:off x="685800" y="2468880"/>
            <a:ext cx="3119018" cy="237744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a:lstStyle/>
          <a:p>
            <a:pPr algn="ctr"/>
            <a:r>
              <a:rPr sz="900" b="1">
                <a:solidFill>
                  <a:srgbClr val="2F8F6E"/>
                </a:solidFill>
                <a:latin typeface="DM Mono"/>
              </a:rPr>
              <a:t>NGO / COMMUNITY CLINIC</a:t>
            </a:r>
          </a:p>
          <a:p>
            <a:pPr>
              <a:spcBef>
                <a:spcPts val="500"/>
              </a:spcBef>
            </a:pPr>
            <a:r>
              <a:rPr sz="1300" b="1">
                <a:solidFill>
                  <a:srgbClr val="24344A"/>
                </a:solidFill>
              </a:rPr>
              <a:t>Karwan-e-Hayat, Institute for Mental Health Care</a:t>
            </a:r>
          </a:p>
          <a:p>
            <a:pPr>
              <a:spcBef>
                <a:spcPts val="600"/>
              </a:spcBef>
            </a:pPr>
            <a:r>
              <a:rPr sz="1050">
                <a:solidFill>
                  <a:srgbClr val="6E7C8C"/>
                </a:solidFill>
              </a:rPr>
              <a:t>Psychiatric treatment, psychological services, and rehabilitation care.</a:t>
            </a:r>
          </a:p>
        </p:txBody>
      </p:sp>
      <p:sp>
        <p:nvSpPr>
          <p:cNvPr id="7" name="Rounded Rectangle 6"/>
          <p:cNvSpPr/>
          <p:nvPr/>
        </p:nvSpPr>
        <p:spPr>
          <a:xfrm>
            <a:off x="4079138" y="2468880"/>
            <a:ext cx="3119018" cy="237744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a:lstStyle/>
          <a:p>
            <a:pPr algn="ctr"/>
            <a:r>
              <a:rPr sz="900" b="1">
                <a:solidFill>
                  <a:srgbClr val="2F8F6E"/>
                </a:solidFill>
                <a:latin typeface="DM Mono"/>
              </a:rPr>
              <a:t>PUBLIC HOSPITAL</a:t>
            </a:r>
          </a:p>
          <a:p>
            <a:pPr>
              <a:spcBef>
                <a:spcPts val="500"/>
              </a:spcBef>
            </a:pPr>
            <a:r>
              <a:rPr sz="1300" b="1">
                <a:solidFill>
                  <a:srgbClr val="24344A"/>
                </a:solidFill>
              </a:rPr>
              <a:t>Civil Hospital Karachi — Dept. of Psychiatry</a:t>
            </a:r>
          </a:p>
          <a:p>
            <a:pPr>
              <a:spcBef>
                <a:spcPts val="600"/>
              </a:spcBef>
            </a:pPr>
            <a:r>
              <a:rPr sz="1050">
                <a:solidFill>
                  <a:srgbClr val="6E7C8C"/>
                </a:solidFill>
              </a:rPr>
              <a:t>Psychiatric inpatient, outpatient, and acute care for adults, adolescents, and children.</a:t>
            </a:r>
          </a:p>
        </p:txBody>
      </p:sp>
      <p:sp>
        <p:nvSpPr>
          <p:cNvPr id="8" name="Rounded Rectangle 7"/>
          <p:cNvSpPr/>
          <p:nvPr/>
        </p:nvSpPr>
        <p:spPr>
          <a:xfrm>
            <a:off x="7472476" y="2468880"/>
            <a:ext cx="3119018" cy="237744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a:lstStyle/>
          <a:p>
            <a:pPr algn="ctr"/>
            <a:r>
              <a:rPr sz="900" b="1">
                <a:solidFill>
                  <a:srgbClr val="2F8F6E"/>
                </a:solidFill>
                <a:latin typeface="DM Mono"/>
              </a:rPr>
              <a:t>PRIVATE HOSPITAL</a:t>
            </a:r>
          </a:p>
          <a:p>
            <a:pPr>
              <a:spcBef>
                <a:spcPts val="500"/>
              </a:spcBef>
            </a:pPr>
            <a:r>
              <a:rPr sz="1300" b="1">
                <a:solidFill>
                  <a:srgbClr val="24344A"/>
                </a:solidFill>
              </a:rPr>
              <a:t>Karachi Psychiatric Hospital, Quaidabad</a:t>
            </a:r>
          </a:p>
          <a:p>
            <a:pPr>
              <a:spcBef>
                <a:spcPts val="600"/>
              </a:spcBef>
            </a:pPr>
            <a:r>
              <a:rPr sz="1050">
                <a:solidFill>
                  <a:srgbClr val="6E7C8C"/>
                </a:solidFill>
              </a:rPr>
              <a:t>General psychiatric hospital with outpatient consultation.</a:t>
            </a:r>
          </a:p>
        </p:txBody>
      </p:sp>
      <p:sp>
        <p:nvSpPr>
          <p:cNvPr id="9" name="TextBox 8"/>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10" name="TextBox 9"/>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05 / FINDING A THERAPIST — LIVE DOCTOR DIRECTORIES</a:t>
            </a:r>
          </a:p>
        </p:txBody>
      </p:sp>
      <p:sp>
        <p:nvSpPr>
          <p:cNvPr id="4" name="TextBox 3"/>
          <p:cNvSpPr txBox="1"/>
          <p:nvPr/>
        </p:nvSpPr>
        <p:spPr>
          <a:xfrm>
            <a:off x="685800" y="731520"/>
            <a:ext cx="10607040" cy="548640"/>
          </a:xfrm>
          <a:prstGeom prst="rect">
            <a:avLst/>
          </a:prstGeom>
          <a:noFill/>
        </p:spPr>
        <p:txBody>
          <a:bodyPr wrap="square">
            <a:spAutoFit/>
          </a:bodyPr>
          <a:lstStyle/>
          <a:p>
            <a:pPr algn="l">
              <a:lnSpc>
                <a:spcPct val="120000"/>
              </a:lnSpc>
            </a:pPr>
            <a:r>
              <a:rPr sz="2800" b="1" i="0">
                <a:solidFill>
                  <a:srgbClr val="24344A"/>
                </a:solidFill>
                <a:latin typeface="Georgia"/>
              </a:rPr>
              <a:t>More reliable than a static list</a:t>
            </a:r>
          </a:p>
        </p:txBody>
      </p:sp>
      <p:sp>
        <p:nvSpPr>
          <p:cNvPr id="5" name="TextBox 4"/>
          <p:cNvSpPr txBox="1"/>
          <p:nvPr/>
        </p:nvSpPr>
        <p:spPr>
          <a:xfrm>
            <a:off x="685800" y="1417320"/>
            <a:ext cx="10789920" cy="822960"/>
          </a:xfrm>
          <a:prstGeom prst="rect">
            <a:avLst/>
          </a:prstGeom>
          <a:noFill/>
        </p:spPr>
        <p:txBody>
          <a:bodyPr wrap="square">
            <a:spAutoFit/>
          </a:bodyPr>
          <a:lstStyle/>
          <a:p>
            <a:pPr algn="l">
              <a:lnSpc>
                <a:spcPct val="135000"/>
              </a:lnSpc>
            </a:pPr>
            <a:r>
              <a:rPr sz="1250" b="0" i="0">
                <a:solidFill>
                  <a:srgbClr val="6E7C8C"/>
                </a:solidFill>
                <a:latin typeface="DM Sans"/>
              </a:rPr>
              <a:t>These platforms maintain current, verified individual psychiatrist and psychologist profiles with fees, reviews, and booking - more reliable than a static list for finding an individual provider.</a:t>
            </a:r>
          </a:p>
        </p:txBody>
      </p:sp>
      <p:sp>
        <p:nvSpPr>
          <p:cNvPr id="6" name="Rounded Rectangle 5"/>
          <p:cNvSpPr/>
          <p:nvPr/>
        </p:nvSpPr>
        <p:spPr>
          <a:xfrm>
            <a:off x="685800" y="2560320"/>
            <a:ext cx="5120640" cy="137160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r>
              <a:rPr sz="1700" b="1">
                <a:solidFill>
                  <a:srgbClr val="24344A"/>
                </a:solidFill>
                <a:latin typeface="Georgia"/>
              </a:rPr>
              <a:t>oladoc.com</a:t>
            </a:r>
          </a:p>
          <a:p>
            <a:pPr>
              <a:spcBef>
                <a:spcPts val="1000"/>
              </a:spcBef>
            </a:pPr>
            <a:r>
              <a:rPr sz="1100">
                <a:solidFill>
                  <a:srgbClr val="2C6FBA"/>
                </a:solidFill>
                <a:latin typeface="DM Mono"/>
              </a:rPr>
              <a:t>Psychiatrists →   Psychologists →</a:t>
            </a:r>
          </a:p>
        </p:txBody>
      </p:sp>
      <p:sp>
        <p:nvSpPr>
          <p:cNvPr id="7" name="Rounded Rectangle 6"/>
          <p:cNvSpPr/>
          <p:nvPr/>
        </p:nvSpPr>
        <p:spPr>
          <a:xfrm>
            <a:off x="6080760" y="2560320"/>
            <a:ext cx="5120640" cy="137160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r>
              <a:rPr sz="1700" b="1">
                <a:solidFill>
                  <a:srgbClr val="24344A"/>
                </a:solidFill>
                <a:latin typeface="Georgia"/>
              </a:rPr>
              <a:t>Marham.pk</a:t>
            </a:r>
          </a:p>
          <a:p>
            <a:pPr>
              <a:spcBef>
                <a:spcPts val="1000"/>
              </a:spcBef>
            </a:pPr>
            <a:r>
              <a:rPr sz="1100">
                <a:solidFill>
                  <a:srgbClr val="2C6FBA"/>
                </a:solidFill>
                <a:latin typeface="DM Mono"/>
              </a:rPr>
              <a:t>Psychiatrists →   Psychologists →</a:t>
            </a:r>
          </a:p>
        </p:txBody>
      </p:sp>
      <p:sp>
        <p:nvSpPr>
          <p:cNvPr id="8" name="TextBox 7"/>
          <p:cNvSpPr txBox="1"/>
          <p:nvPr/>
        </p:nvSpPr>
        <p:spPr>
          <a:xfrm>
            <a:off x="685800" y="4297680"/>
            <a:ext cx="10789920" cy="731520"/>
          </a:xfrm>
          <a:prstGeom prst="rect">
            <a:avLst/>
          </a:prstGeom>
          <a:noFill/>
        </p:spPr>
        <p:txBody>
          <a:bodyPr wrap="square">
            <a:spAutoFit/>
          </a:bodyPr>
          <a:lstStyle/>
          <a:p>
            <a:pPr algn="l">
              <a:lnSpc>
                <a:spcPct val="135000"/>
              </a:lnSpc>
            </a:pPr>
            <a:r>
              <a:rPr sz="1150" b="0" i="1">
                <a:solidFill>
                  <a:srgbClr val="6E7C8C"/>
                </a:solidFill>
                <a:latin typeface="DM Sans"/>
              </a:rPr>
              <a:t>MindHx does not verify real-time availability, fees, or credentials for any listing above. Confirm details directly with the provider before booking.</a:t>
            </a:r>
          </a:p>
        </p:txBody>
      </p:sp>
      <p:sp>
        <p:nvSpPr>
          <p:cNvPr id="9" name="TextBox 8"/>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10" name="TextBox 9"/>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463040"/>
            <a:ext cx="12191695" cy="365760"/>
          </a:xfrm>
          <a:prstGeom prst="rect">
            <a:avLst/>
          </a:prstGeom>
          <a:noFill/>
        </p:spPr>
        <p:txBody>
          <a:bodyPr wrap="square">
            <a:spAutoFit/>
          </a:bodyPr>
          <a:lstStyle/>
          <a:p>
            <a:pPr algn="ctr">
              <a:lnSpc>
                <a:spcPct val="120000"/>
              </a:lnSpc>
            </a:pPr>
            <a:r>
              <a:rPr sz="1200" b="1" i="0">
                <a:solidFill>
                  <a:srgbClr val="9FD8C2"/>
                </a:solidFill>
                <a:latin typeface="DM Mono"/>
              </a:rPr>
              <a:t>06 / CORE FOCUS</a:t>
            </a:r>
          </a:p>
        </p:txBody>
      </p:sp>
      <p:sp>
        <p:nvSpPr>
          <p:cNvPr id="4" name="TextBox 3"/>
          <p:cNvSpPr txBox="1"/>
          <p:nvPr/>
        </p:nvSpPr>
        <p:spPr>
          <a:xfrm>
            <a:off x="914400" y="1920240"/>
            <a:ext cx="10362895" cy="2011680"/>
          </a:xfrm>
          <a:prstGeom prst="rect">
            <a:avLst/>
          </a:prstGeom>
          <a:noFill/>
        </p:spPr>
        <p:txBody>
          <a:bodyPr wrap="square">
            <a:spAutoFit/>
          </a:bodyPr>
          <a:lstStyle/>
          <a:p>
            <a:pPr algn="ctr">
              <a:lnSpc>
                <a:spcPct val="115000"/>
              </a:lnSpc>
            </a:pPr>
            <a:r>
              <a:rPr sz="4400" b="1" i="0">
                <a:solidFill>
                  <a:srgbClr val="FFFFFF"/>
                </a:solidFill>
                <a:latin typeface="Georgia"/>
              </a:rPr>
              <a:t>Urdu Language</a:t>
            </a:r>
          </a:p>
          <a:p>
            <a:pPr algn="ctr">
              <a:lnSpc>
                <a:spcPct val="115000"/>
              </a:lnSpc>
            </a:pPr>
            <a:r>
              <a:rPr sz="4400" b="1" i="0">
                <a:solidFill>
                  <a:srgbClr val="FFFFFF"/>
                </a:solidFill>
                <a:latin typeface="Georgia"/>
              </a:rPr>
              <a:t>Not a translation layer -</a:t>
            </a:r>
          </a:p>
          <a:p>
            <a:pPr algn="ctr">
              <a:lnSpc>
                <a:spcPct val="115000"/>
              </a:lnSpc>
            </a:pPr>
            <a:r>
              <a:rPr sz="4400" b="1" i="0">
                <a:solidFill>
                  <a:srgbClr val="FFFFFF"/>
                </a:solidFill>
                <a:latin typeface="Georgia"/>
              </a:rPr>
              <a:t>a core requirement.</a:t>
            </a:r>
          </a:p>
        </p:txBody>
      </p:sp>
      <p:sp>
        <p:nvSpPr>
          <p:cNvPr id="5" name="TextBox 4"/>
          <p:cNvSpPr txBox="1"/>
          <p:nvPr/>
        </p:nvSpPr>
        <p:spPr>
          <a:xfrm>
            <a:off x="1371600" y="4114800"/>
            <a:ext cx="9448495" cy="731520"/>
          </a:xfrm>
          <a:prstGeom prst="rect">
            <a:avLst/>
          </a:prstGeom>
          <a:noFill/>
        </p:spPr>
        <p:txBody>
          <a:bodyPr wrap="square">
            <a:spAutoFit/>
          </a:bodyPr>
          <a:lstStyle/>
          <a:p>
            <a:pPr algn="ctr">
              <a:lnSpc>
                <a:spcPct val="120000"/>
              </a:lnSpc>
            </a:pPr>
            <a:r>
              <a:rPr sz="1400" b="0" i="1">
                <a:solidFill>
                  <a:srgbClr val="CFE3DA"/>
                </a:solidFill>
                <a:latin typeface="DM Sans"/>
              </a:rPr>
              <a:t>The single most important design decision in MindHx: built bilingual from the ground up.</a:t>
            </a:r>
          </a:p>
        </p:txBody>
      </p:sp>
      <p:sp>
        <p:nvSpPr>
          <p:cNvPr id="6" name="TextBox 5"/>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9FB8AC"/>
                </a:solidFill>
                <a:latin typeface="DM Sans"/>
              </a:rPr>
              <a:t>MindHx</a:t>
            </a:r>
          </a:p>
        </p:txBody>
      </p:sp>
      <p:sp>
        <p:nvSpPr>
          <p:cNvPr id="7" name="TextBox 6"/>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9FB8AC"/>
                </a:solidFill>
                <a:latin typeface="DM San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06 / URDU LANGUAGE</a:t>
            </a:r>
          </a:p>
        </p:txBody>
      </p:sp>
      <p:sp>
        <p:nvSpPr>
          <p:cNvPr id="4" name="TextBox 3"/>
          <p:cNvSpPr txBox="1"/>
          <p:nvPr/>
        </p:nvSpPr>
        <p:spPr>
          <a:xfrm>
            <a:off x="685800" y="777240"/>
            <a:ext cx="10607040" cy="1371600"/>
          </a:xfrm>
          <a:prstGeom prst="rect">
            <a:avLst/>
          </a:prstGeom>
          <a:noFill/>
        </p:spPr>
        <p:txBody>
          <a:bodyPr wrap="square">
            <a:spAutoFit/>
          </a:bodyPr>
          <a:lstStyle/>
          <a:p>
            <a:pPr algn="l">
              <a:lnSpc>
                <a:spcPct val="112000"/>
              </a:lnSpc>
            </a:pPr>
            <a:r>
              <a:rPr sz="3000" b="1" i="0">
                <a:solidFill>
                  <a:srgbClr val="24344A"/>
                </a:solidFill>
                <a:latin typeface="Georgia"/>
              </a:rPr>
              <a:t>Why Urdu, and why it had to be</a:t>
            </a:r>
          </a:p>
          <a:p>
            <a:pPr algn="l">
              <a:lnSpc>
                <a:spcPct val="112000"/>
              </a:lnSpc>
            </a:pPr>
            <a:r>
              <a:rPr sz="3000" b="1" i="0">
                <a:solidFill>
                  <a:srgbClr val="24344A"/>
                </a:solidFill>
                <a:latin typeface="Georgia"/>
              </a:rPr>
              <a:t>built in, not bolted on.</a:t>
            </a:r>
          </a:p>
        </p:txBody>
      </p:sp>
      <p:sp>
        <p:nvSpPr>
          <p:cNvPr id="5" name="TextBox 4"/>
          <p:cNvSpPr txBox="1"/>
          <p:nvPr/>
        </p:nvSpPr>
        <p:spPr>
          <a:xfrm>
            <a:off x="685800" y="2286000"/>
            <a:ext cx="10789920" cy="1280160"/>
          </a:xfrm>
          <a:prstGeom prst="rect">
            <a:avLst/>
          </a:prstGeom>
          <a:noFill/>
        </p:spPr>
        <p:txBody>
          <a:bodyPr wrap="square">
            <a:spAutoFit/>
          </a:bodyPr>
          <a:lstStyle/>
          <a:p>
            <a:pPr algn="l">
              <a:lnSpc>
                <a:spcPct val="135000"/>
              </a:lnSpc>
            </a:pPr>
            <a:r>
              <a:rPr sz="1300" b="0" i="0">
                <a:solidFill>
                  <a:srgbClr val="6E7C8C"/>
                </a:solidFill>
                <a:latin typeface="DM Sans"/>
              </a:rPr>
              <a:t>Every page - the check-in itself, the AI chat, the therapist directory - exists in both English and Urdu, switchable with a single tap, with the entire layout correctly mirroring for Urdu's right-to-left script. A screening tool available only in English quietly excludes most of the people who might actually need it in a country where Urdu is the lingua franca.</a:t>
            </a:r>
          </a:p>
        </p:txBody>
      </p:sp>
      <p:sp>
        <p:nvSpPr>
          <p:cNvPr id="6" name="TextBox 5"/>
          <p:cNvSpPr txBox="1"/>
          <p:nvPr/>
        </p:nvSpPr>
        <p:spPr>
          <a:xfrm>
            <a:off x="685800" y="3749039"/>
            <a:ext cx="10789920" cy="1280160"/>
          </a:xfrm>
          <a:prstGeom prst="rect">
            <a:avLst/>
          </a:prstGeom>
          <a:noFill/>
        </p:spPr>
        <p:txBody>
          <a:bodyPr wrap="square">
            <a:spAutoFit/>
          </a:bodyPr>
          <a:lstStyle/>
          <a:p>
            <a:pPr algn="l">
              <a:lnSpc>
                <a:spcPct val="135000"/>
              </a:lnSpc>
            </a:pPr>
            <a:r>
              <a:rPr sz="1250" b="0" i="0">
                <a:solidFill>
                  <a:srgbClr val="2F8F6E"/>
                </a:solidFill>
                <a:latin typeface="DM Sans"/>
              </a:rPr>
              <a:t>- Header-level toggle on every page      - Full RTL layout mirroring      - Server-side Urdu-script safety guard</a:t>
            </a:r>
          </a:p>
        </p:txBody>
      </p:sp>
      <p:sp>
        <p:nvSpPr>
          <p:cNvPr id="7" name="TextBox 6"/>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8" name="TextBox 7"/>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06 / اردو (URDU, RTL)</a:t>
            </a:r>
          </a:p>
        </p:txBody>
      </p:sp>
      <p:sp>
        <p:nvSpPr>
          <p:cNvPr id="4" name="TextBox 3"/>
          <p:cNvSpPr txBox="1"/>
          <p:nvPr/>
        </p:nvSpPr>
        <p:spPr>
          <a:xfrm>
            <a:off x="685800" y="777240"/>
            <a:ext cx="10515600" cy="1280160"/>
          </a:xfrm>
          <a:prstGeom prst="rect">
            <a:avLst/>
          </a:prstGeom>
          <a:noFill/>
        </p:spPr>
        <p:txBody>
          <a:bodyPr wrap="square">
            <a:spAutoFit/>
          </a:bodyPr>
          <a:lstStyle/>
          <a:p>
            <a:pPr algn="l">
              <a:lnSpc>
                <a:spcPct val="110000"/>
              </a:lnSpc>
            </a:pPr>
            <a:r>
              <a:rPr sz="3000" b="1" i="0">
                <a:solidFill>
                  <a:srgbClr val="24344A"/>
                </a:solidFill>
                <a:latin typeface="Georgia"/>
              </a:rPr>
              <a:t>آہستہ چلیں۔ اشارے کو محسوس کریں۔</a:t>
            </a:r>
          </a:p>
        </p:txBody>
      </p:sp>
      <p:pic>
        <p:nvPicPr>
          <p:cNvPr id="5" name="Picture 4" descr="home.jpg"/>
          <p:cNvPicPr>
            <a:picLocks noChangeAspect="1"/>
          </p:cNvPicPr>
          <p:nvPr/>
        </p:nvPicPr>
        <p:blipFill>
          <a:blip r:embed="rId2"/>
          <a:stretch>
            <a:fillRect/>
          </a:stretch>
        </p:blipFill>
        <p:spPr>
          <a:xfrm>
            <a:off x="3052945" y="2286000"/>
            <a:ext cx="6055629" cy="3657600"/>
          </a:xfrm>
          <a:prstGeom prst="rect">
            <a:avLst/>
          </a:prstGeom>
        </p:spPr>
      </p:pic>
      <p:sp>
        <p:nvSpPr>
          <p:cNvPr id="6" name="TextBox 5"/>
          <p:cNvSpPr txBox="1"/>
          <p:nvPr/>
        </p:nvSpPr>
        <p:spPr>
          <a:xfrm>
            <a:off x="685800" y="6035040"/>
            <a:ext cx="10789920" cy="365760"/>
          </a:xfrm>
          <a:prstGeom prst="rect">
            <a:avLst/>
          </a:prstGeom>
          <a:noFill/>
        </p:spPr>
        <p:txBody>
          <a:bodyPr wrap="square">
            <a:spAutoFit/>
          </a:bodyPr>
          <a:lstStyle/>
          <a:p>
            <a:pPr algn="ctr">
              <a:lnSpc>
                <a:spcPct val="120000"/>
              </a:lnSpc>
            </a:pPr>
            <a:r>
              <a:rPr sz="1100" b="0" i="0">
                <a:solidFill>
                  <a:srgbClr val="6E7C8C"/>
                </a:solidFill>
                <a:latin typeface="DM Mono"/>
              </a:rPr>
              <a:t>Home / check-in - fully mirrored Urdu layout</a:t>
            </a:r>
          </a:p>
        </p:txBody>
      </p:sp>
      <p:sp>
        <p:nvSpPr>
          <p:cNvPr id="7" name="TextBox 6"/>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8" name="TextBox 7"/>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06 / اردو (URDU, RTL)</a:t>
            </a:r>
          </a:p>
        </p:txBody>
      </p:sp>
      <p:sp>
        <p:nvSpPr>
          <p:cNvPr id="4" name="TextBox 3"/>
          <p:cNvSpPr txBox="1"/>
          <p:nvPr/>
        </p:nvSpPr>
        <p:spPr>
          <a:xfrm>
            <a:off x="685800" y="777240"/>
            <a:ext cx="10515600" cy="1280160"/>
          </a:xfrm>
          <a:prstGeom prst="rect">
            <a:avLst/>
          </a:prstGeom>
          <a:noFill/>
        </p:spPr>
        <p:txBody>
          <a:bodyPr wrap="square">
            <a:spAutoFit/>
          </a:bodyPr>
          <a:lstStyle/>
          <a:p>
            <a:pPr algn="l">
              <a:lnSpc>
                <a:spcPct val="110000"/>
              </a:lnSpc>
            </a:pPr>
            <a:r>
              <a:rPr sz="2600" b="1" i="0">
                <a:solidFill>
                  <a:srgbClr val="24344A"/>
                </a:solidFill>
                <a:latin typeface="Georgia"/>
              </a:rPr>
              <a:t>MindHx AI - ایک حقیقی اردو گفتگو</a:t>
            </a:r>
          </a:p>
        </p:txBody>
      </p:sp>
      <p:pic>
        <p:nvPicPr>
          <p:cNvPr id="5" name="Picture 4" descr="chat-working-ur.jpg"/>
          <p:cNvPicPr>
            <a:picLocks noChangeAspect="1"/>
          </p:cNvPicPr>
          <p:nvPr/>
        </p:nvPicPr>
        <p:blipFill>
          <a:blip r:embed="rId2"/>
          <a:stretch>
            <a:fillRect/>
          </a:stretch>
        </p:blipFill>
        <p:spPr>
          <a:xfrm>
            <a:off x="3052945" y="2286000"/>
            <a:ext cx="6055629" cy="3657600"/>
          </a:xfrm>
          <a:prstGeom prst="rect">
            <a:avLst/>
          </a:prstGeom>
        </p:spPr>
      </p:pic>
      <p:sp>
        <p:nvSpPr>
          <p:cNvPr id="6" name="TextBox 5"/>
          <p:cNvSpPr txBox="1"/>
          <p:nvPr/>
        </p:nvSpPr>
        <p:spPr>
          <a:xfrm>
            <a:off x="685800" y="6035040"/>
            <a:ext cx="10789920" cy="365760"/>
          </a:xfrm>
          <a:prstGeom prst="rect">
            <a:avLst/>
          </a:prstGeom>
          <a:noFill/>
        </p:spPr>
        <p:txBody>
          <a:bodyPr wrap="square">
            <a:spAutoFit/>
          </a:bodyPr>
          <a:lstStyle/>
          <a:p>
            <a:pPr algn="ctr">
              <a:lnSpc>
                <a:spcPct val="120000"/>
              </a:lnSpc>
            </a:pPr>
            <a:r>
              <a:rPr sz="1100" b="0" i="0">
                <a:solidFill>
                  <a:srgbClr val="6E7C8C"/>
                </a:solidFill>
                <a:latin typeface="DM Mono"/>
              </a:rPr>
              <a:t>The same RAG chatbot, live, replying entirely in Urdu</a:t>
            </a:r>
          </a:p>
        </p:txBody>
      </p:sp>
      <p:sp>
        <p:nvSpPr>
          <p:cNvPr id="7" name="TextBox 6"/>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8" name="TextBox 7"/>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789920" cy="320040"/>
          </a:xfrm>
          <a:prstGeom prst="rect">
            <a:avLst/>
          </a:prstGeom>
          <a:noFill/>
        </p:spPr>
        <p:txBody>
          <a:bodyPr wrap="square">
            <a:spAutoFit/>
          </a:bodyPr>
          <a:lstStyle/>
          <a:p>
            <a:pPr algn="l"/>
            <a:r>
              <a:rPr sz="1100" b="1">
                <a:solidFill>
                  <a:srgbClr val="2C6FBA"/>
                </a:solidFill>
                <a:latin typeface="DM Mono"/>
              </a:rPr>
              <a:t>06 / AI چیٹ بوٹ — اردو میں</a:t>
            </a:r>
          </a:p>
        </p:txBody>
      </p:sp>
      <p:sp>
        <p:nvSpPr>
          <p:cNvPr id="4" name="TextBox 3"/>
          <p:cNvSpPr txBox="1"/>
          <p:nvPr/>
        </p:nvSpPr>
        <p:spPr>
          <a:xfrm>
            <a:off x="685800" y="1051560"/>
            <a:ext cx="10789920" cy="1463040"/>
          </a:xfrm>
          <a:prstGeom prst="rect">
            <a:avLst/>
          </a:prstGeom>
          <a:noFill/>
        </p:spPr>
        <p:txBody>
          <a:bodyPr wrap="square">
            <a:spAutoFit/>
          </a:bodyPr>
          <a:lstStyle/>
          <a:p>
            <a:pPr algn="r">
              <a:lnSpc>
                <a:spcPct val="150000"/>
              </a:lnSpc>
            </a:pPr>
            <a:r>
              <a:rPr sz="1500" b="0" i="0" lang="ur-PK">
                <a:solidFill>
                  <a:srgbClr val="24344A"/>
                </a:solidFill>
                <a:latin typeface="Noto Nastaliq Urdu"/>
                <a:cs typeface="Noto Nastaliq Urdu"/>
              </a:rPr>
              <a:t>MindHx کے اندر ایک AI چیٹ بوٹ بھی شامل ہے جو روزمرہ کے عام ذہنی دباؤ، پریشانی اور تھکن جیسے مسائل میں فوری رہنمائی فراہم کرتا ہے۔</a:t>
            </a:r>
          </a:p>
        </p:txBody>
      </p:sp>
      <p:sp>
        <p:nvSpPr>
          <p:cNvPr id="5" name="TextBox 4"/>
          <p:cNvSpPr txBox="1"/>
          <p:nvPr/>
        </p:nvSpPr>
        <p:spPr>
          <a:xfrm>
            <a:off x="685800" y="1801368"/>
            <a:ext cx="10789920" cy="1463040"/>
          </a:xfrm>
          <a:prstGeom prst="rect">
            <a:avLst/>
          </a:prstGeom>
          <a:noFill/>
        </p:spPr>
        <p:txBody>
          <a:bodyPr wrap="square">
            <a:spAutoFit/>
          </a:bodyPr>
          <a:lstStyle/>
          <a:p>
            <a:pPr algn="r">
              <a:lnSpc>
                <a:spcPct val="150000"/>
              </a:lnSpc>
            </a:pPr>
            <a:r>
              <a:rPr sz="1500" b="0" i="0" lang="ur-PK">
                <a:solidFill>
                  <a:srgbClr val="24344A"/>
                </a:solidFill>
                <a:latin typeface="Noto Nastaliq Urdu"/>
                <a:cs typeface="Noto Nastaliq Urdu"/>
              </a:rPr>
              <a:t>یہ چیٹ بوٹ آزادانہ طور پر کچھ بھی نہیں بناتا بلکہ صرف پہلے سے طے شدہ اور محفوظ معلومات کی بنیاد پر جواب دیتا ہے، تاکہ کوئی غلط یا خطرناک مشورہ نہ دیا جائے۔</a:t>
            </a:r>
          </a:p>
        </p:txBody>
      </p:sp>
      <p:sp>
        <p:nvSpPr>
          <p:cNvPr id="6" name="TextBox 5"/>
          <p:cNvSpPr txBox="1"/>
          <p:nvPr/>
        </p:nvSpPr>
        <p:spPr>
          <a:xfrm>
            <a:off x="685800" y="2843784"/>
            <a:ext cx="10789920" cy="1463040"/>
          </a:xfrm>
          <a:prstGeom prst="rect">
            <a:avLst/>
          </a:prstGeom>
          <a:noFill/>
        </p:spPr>
        <p:txBody>
          <a:bodyPr wrap="square">
            <a:spAutoFit/>
          </a:bodyPr>
          <a:lstStyle/>
          <a:p>
            <a:pPr algn="r">
              <a:lnSpc>
                <a:spcPct val="150000"/>
              </a:lnSpc>
            </a:pPr>
            <a:r>
              <a:rPr sz="1500" b="0" i="0" lang="ur-PK">
                <a:solidFill>
                  <a:srgbClr val="24344A"/>
                </a:solidFill>
                <a:latin typeface="Noto Nastaliq Urdu"/>
                <a:cs typeface="Noto Nastaliq Urdu"/>
              </a:rPr>
              <a:t>پاکستان میں زیادہ تر لوگ چھوٹے موٹے ذہنی مسائل جیسے نیند کی کمی، کام کا دباؤ، گھریلو ذمہ داریوں کا بوجھ یا روزمرہ کی بے چینی کے لیے کسی ماہر کے پاس نہیں جاتے۔ اس چیٹ بوٹ کے ذریعے ایسے لوگوں کو سادہ مراقبے کی تکنیکیں اور بنیادی تھراپی کے طریقے فوری طور پر مل جاتے ہیں، بغیر کسی اپائنٹمنٹ یا انتظار کے۔</a:t>
            </a:r>
          </a:p>
        </p:txBody>
      </p:sp>
      <p:sp>
        <p:nvSpPr>
          <p:cNvPr id="7" name="TextBox 6"/>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8" name="TextBox 7"/>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789920" cy="320040"/>
          </a:xfrm>
          <a:prstGeom prst="rect">
            <a:avLst/>
          </a:prstGeom>
          <a:noFill/>
        </p:spPr>
        <p:txBody>
          <a:bodyPr wrap="square">
            <a:spAutoFit/>
          </a:bodyPr>
          <a:lstStyle/>
          <a:p>
            <a:pPr algn="l"/>
            <a:r>
              <a:rPr sz="1100" b="1">
                <a:solidFill>
                  <a:srgbClr val="2C6FBA"/>
                </a:solidFill>
                <a:latin typeface="DM Mono"/>
              </a:rPr>
              <a:t>06 / AI چیٹ بوٹ — اردو میں (جاری)</a:t>
            </a:r>
          </a:p>
        </p:txBody>
      </p:sp>
      <p:sp>
        <p:nvSpPr>
          <p:cNvPr id="4" name="TextBox 3"/>
          <p:cNvSpPr txBox="1"/>
          <p:nvPr/>
        </p:nvSpPr>
        <p:spPr>
          <a:xfrm>
            <a:off x="685800" y="1051560"/>
            <a:ext cx="10789920" cy="1463040"/>
          </a:xfrm>
          <a:prstGeom prst="rect">
            <a:avLst/>
          </a:prstGeom>
          <a:noFill/>
        </p:spPr>
        <p:txBody>
          <a:bodyPr wrap="square">
            <a:spAutoFit/>
          </a:bodyPr>
          <a:lstStyle/>
          <a:p>
            <a:pPr algn="r">
              <a:lnSpc>
                <a:spcPct val="150000"/>
              </a:lnSpc>
            </a:pPr>
            <a:r>
              <a:rPr sz="1500" b="0" i="0" lang="ur-PK">
                <a:solidFill>
                  <a:srgbClr val="24344A"/>
                </a:solidFill>
                <a:latin typeface="Noto Nastaliq Urdu"/>
                <a:cs typeface="Noto Nastaliq Urdu"/>
              </a:rPr>
              <a:t>مثال کے طور پر اگر کسی کو نیند نہیں آ رہی یا ذہنی تناؤ محسوس ہو رہا ہے، تو وہ فوراً سانس لینے کی مشقیں، ذہنی سکون کی تکنیکیں یا سادہ طرزِ عمل تھراپی کے مشورے حاصل کر سکتا ہے۔</a:t>
            </a:r>
          </a:p>
        </p:txBody>
      </p:sp>
      <p:sp>
        <p:nvSpPr>
          <p:cNvPr id="5" name="TextBox 4"/>
          <p:cNvSpPr txBox="1"/>
          <p:nvPr/>
        </p:nvSpPr>
        <p:spPr>
          <a:xfrm>
            <a:off x="685800" y="2093976"/>
            <a:ext cx="10789920" cy="1463040"/>
          </a:xfrm>
          <a:prstGeom prst="rect">
            <a:avLst/>
          </a:prstGeom>
          <a:noFill/>
        </p:spPr>
        <p:txBody>
          <a:bodyPr wrap="square">
            <a:spAutoFit/>
          </a:bodyPr>
          <a:lstStyle/>
          <a:p>
            <a:pPr algn="r">
              <a:lnSpc>
                <a:spcPct val="150000"/>
              </a:lnSpc>
            </a:pPr>
            <a:r>
              <a:rPr sz="1500" b="0" i="0" lang="ur-PK">
                <a:solidFill>
                  <a:srgbClr val="24344A"/>
                </a:solidFill>
                <a:latin typeface="Noto Nastaliq Urdu"/>
                <a:cs typeface="Noto Nastaliq Urdu"/>
              </a:rPr>
              <a:t>یہ خاص طور پر ان لوگوں کے لیے مفید ہے جو یہ سمجھتے ہیں کہ ان کا مسئلہ اتنا بڑا نہیں کہ ڈاکٹر کے پاس جایا جائے، مگر پھر بھی روزمرہ زندگی متاثر ہو رہی ہوتی ہے۔ اس طرح یہ چیٹ بوٹ ایک درمیانی درجے کی مدد فراہم کرتا ہے۔ نہ تو یہ طبی علاج کا متبادل ہے اور نہ ہی صارف کو بغیر رہنمائی کے چھوڑتا ہے۔</a:t>
            </a:r>
          </a:p>
        </p:txBody>
      </p:sp>
      <p:sp>
        <p:nvSpPr>
          <p:cNvPr id="6" name="TextBox 5"/>
          <p:cNvSpPr txBox="1"/>
          <p:nvPr/>
        </p:nvSpPr>
        <p:spPr>
          <a:xfrm>
            <a:off x="685800" y="3721608"/>
            <a:ext cx="10789920" cy="1463040"/>
          </a:xfrm>
          <a:prstGeom prst="rect">
            <a:avLst/>
          </a:prstGeom>
          <a:noFill/>
        </p:spPr>
        <p:txBody>
          <a:bodyPr wrap="square">
            <a:spAutoFit/>
          </a:bodyPr>
          <a:lstStyle/>
          <a:p>
            <a:pPr algn="r">
              <a:lnSpc>
                <a:spcPct val="150000"/>
              </a:lnSpc>
            </a:pPr>
            <a:r>
              <a:rPr sz="1500" b="0" i="0" lang="ur-PK">
                <a:solidFill>
                  <a:srgbClr val="24344A"/>
                </a:solidFill>
                <a:latin typeface="Noto Nastaliq Urdu"/>
                <a:cs typeface="Noto Nastaliq Urdu"/>
              </a:rPr>
              <a:t>اگر کبھی بات زیادہ سنگین ہو جائے، جیسے خودکشی کے خیالات ظاہر ہوں، تو چیٹ بوٹ فوراً بات چیت روک کر صارف کو ایمرجنسی سپورٹ کی طرف بھیج دیتا ہے۔ اس طرح MindHx صرف ایک سکریننگ ٹول نہیں بلکہ روزمرہ کی ذہنی صحت کی دیکھ بھال کا ایک عملی ساتھی بھی بن جاتا ہے، خاص طور پر اس ملک میں جہاں تھراپی تک رسائی محدود اور مہنگی ہے۔</a:t>
            </a:r>
          </a:p>
        </p:txBody>
      </p:sp>
      <p:sp>
        <p:nvSpPr>
          <p:cNvPr id="7" name="TextBox 6"/>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8" name="TextBox 7"/>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06 / اردو (URDU, RTL)</a:t>
            </a:r>
          </a:p>
        </p:txBody>
      </p:sp>
      <p:sp>
        <p:nvSpPr>
          <p:cNvPr id="4" name="TextBox 3"/>
          <p:cNvSpPr txBox="1"/>
          <p:nvPr/>
        </p:nvSpPr>
        <p:spPr>
          <a:xfrm>
            <a:off x="685800" y="777240"/>
            <a:ext cx="10515600" cy="1280160"/>
          </a:xfrm>
          <a:prstGeom prst="rect">
            <a:avLst/>
          </a:prstGeom>
          <a:noFill/>
        </p:spPr>
        <p:txBody>
          <a:bodyPr wrap="square">
            <a:spAutoFit/>
          </a:bodyPr>
          <a:lstStyle/>
          <a:p>
            <a:pPr algn="l">
              <a:lnSpc>
                <a:spcPct val="110000"/>
              </a:lnSpc>
            </a:pPr>
            <a:r>
              <a:rPr sz="2600" b="1" i="0">
                <a:solidFill>
                  <a:srgbClr val="24344A"/>
                </a:solidFill>
                <a:latin typeface="Georgia"/>
              </a:rPr>
              <a:t>مراقبے کی تکنیکیں اور تھراپیز</a:t>
            </a:r>
          </a:p>
        </p:txBody>
      </p:sp>
      <p:pic>
        <p:nvPicPr>
          <p:cNvPr id="5" name="Picture 4" descr="meditation-list.jpg"/>
          <p:cNvPicPr>
            <a:picLocks noChangeAspect="1"/>
          </p:cNvPicPr>
          <p:nvPr/>
        </p:nvPicPr>
        <p:blipFill>
          <a:blip r:embed="rId2"/>
          <a:stretch>
            <a:fillRect/>
          </a:stretch>
        </p:blipFill>
        <p:spPr>
          <a:xfrm>
            <a:off x="685800" y="2522646"/>
            <a:ext cx="5120640" cy="3092866"/>
          </a:xfrm>
          <a:prstGeom prst="rect">
            <a:avLst/>
          </a:prstGeom>
        </p:spPr>
      </p:pic>
      <p:sp>
        <p:nvSpPr>
          <p:cNvPr id="6" name="TextBox 5"/>
          <p:cNvSpPr txBox="1"/>
          <p:nvPr/>
        </p:nvSpPr>
        <p:spPr>
          <a:xfrm>
            <a:off x="685800" y="5897880"/>
            <a:ext cx="5120640" cy="365760"/>
          </a:xfrm>
          <a:prstGeom prst="rect">
            <a:avLst/>
          </a:prstGeom>
          <a:noFill/>
        </p:spPr>
        <p:txBody>
          <a:bodyPr wrap="square">
            <a:spAutoFit/>
          </a:bodyPr>
          <a:lstStyle/>
          <a:p>
            <a:pPr algn="ctr">
              <a:lnSpc>
                <a:spcPct val="120000"/>
              </a:lnSpc>
            </a:pPr>
            <a:r>
              <a:rPr sz="1050" b="0" i="0">
                <a:solidFill>
                  <a:srgbClr val="6E7C8C"/>
                </a:solidFill>
                <a:latin typeface="DM Mono"/>
              </a:rPr>
              <a:t>مراقبے کی تکنیکیں</a:t>
            </a:r>
          </a:p>
        </p:txBody>
      </p:sp>
      <p:pic>
        <p:nvPicPr>
          <p:cNvPr id="7" name="Picture 6" descr="therapies-list.jpg"/>
          <p:cNvPicPr>
            <a:picLocks noChangeAspect="1"/>
          </p:cNvPicPr>
          <p:nvPr/>
        </p:nvPicPr>
        <p:blipFill>
          <a:blip r:embed="rId3"/>
          <a:stretch>
            <a:fillRect/>
          </a:stretch>
        </p:blipFill>
        <p:spPr>
          <a:xfrm>
            <a:off x="6355080" y="2522646"/>
            <a:ext cx="5120640" cy="3092866"/>
          </a:xfrm>
          <a:prstGeom prst="rect">
            <a:avLst/>
          </a:prstGeom>
        </p:spPr>
      </p:pic>
      <p:sp>
        <p:nvSpPr>
          <p:cNvPr id="8" name="TextBox 7"/>
          <p:cNvSpPr txBox="1"/>
          <p:nvPr/>
        </p:nvSpPr>
        <p:spPr>
          <a:xfrm>
            <a:off x="6355080" y="5897880"/>
            <a:ext cx="5120640" cy="365760"/>
          </a:xfrm>
          <a:prstGeom prst="rect">
            <a:avLst/>
          </a:prstGeom>
          <a:noFill/>
        </p:spPr>
        <p:txBody>
          <a:bodyPr wrap="square">
            <a:spAutoFit/>
          </a:bodyPr>
          <a:lstStyle/>
          <a:p>
            <a:pPr algn="ctr">
              <a:lnSpc>
                <a:spcPct val="120000"/>
              </a:lnSpc>
            </a:pPr>
            <a:r>
              <a:rPr sz="1050" b="0" i="0">
                <a:solidFill>
                  <a:srgbClr val="6E7C8C"/>
                </a:solidFill>
                <a:latin typeface="DM Mono"/>
              </a:rPr>
              <a:t>تھراپیز</a:t>
            </a:r>
          </a:p>
        </p:txBody>
      </p:sp>
      <p:sp>
        <p:nvSpPr>
          <p:cNvPr id="9" name="TextBox 8"/>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10" name="TextBox 9"/>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06 / اردو (URDU, RTL)</a:t>
            </a:r>
          </a:p>
        </p:txBody>
      </p:sp>
      <p:sp>
        <p:nvSpPr>
          <p:cNvPr id="4" name="TextBox 3"/>
          <p:cNvSpPr txBox="1"/>
          <p:nvPr/>
        </p:nvSpPr>
        <p:spPr>
          <a:xfrm>
            <a:off x="685800" y="777240"/>
            <a:ext cx="10515600" cy="1280160"/>
          </a:xfrm>
          <a:prstGeom prst="rect">
            <a:avLst/>
          </a:prstGeom>
          <a:noFill/>
        </p:spPr>
        <p:txBody>
          <a:bodyPr wrap="square">
            <a:spAutoFit/>
          </a:bodyPr>
          <a:lstStyle/>
          <a:p>
            <a:pPr algn="l">
              <a:lnSpc>
                <a:spcPct val="110000"/>
              </a:lnSpc>
            </a:pPr>
            <a:r>
              <a:rPr sz="2600" b="1" i="0">
                <a:solidFill>
                  <a:srgbClr val="24344A"/>
                </a:solidFill>
                <a:latin typeface="Georgia"/>
              </a:rPr>
              <a:t>معالج تلاش کریں اور فوری مدد</a:t>
            </a:r>
          </a:p>
        </p:txBody>
      </p:sp>
      <p:pic>
        <p:nvPicPr>
          <p:cNvPr id="5" name="Picture 4" descr="therapist.jpg"/>
          <p:cNvPicPr>
            <a:picLocks noChangeAspect="1"/>
          </p:cNvPicPr>
          <p:nvPr/>
        </p:nvPicPr>
        <p:blipFill>
          <a:blip r:embed="rId2"/>
          <a:stretch>
            <a:fillRect/>
          </a:stretch>
        </p:blipFill>
        <p:spPr>
          <a:xfrm>
            <a:off x="685800" y="2522646"/>
            <a:ext cx="5120640" cy="3092866"/>
          </a:xfrm>
          <a:prstGeom prst="rect">
            <a:avLst/>
          </a:prstGeom>
        </p:spPr>
      </p:pic>
      <p:sp>
        <p:nvSpPr>
          <p:cNvPr id="6" name="TextBox 5"/>
          <p:cNvSpPr txBox="1"/>
          <p:nvPr/>
        </p:nvSpPr>
        <p:spPr>
          <a:xfrm>
            <a:off x="685800" y="5897880"/>
            <a:ext cx="5120640" cy="365760"/>
          </a:xfrm>
          <a:prstGeom prst="rect">
            <a:avLst/>
          </a:prstGeom>
          <a:noFill/>
        </p:spPr>
        <p:txBody>
          <a:bodyPr wrap="square">
            <a:spAutoFit/>
          </a:bodyPr>
          <a:lstStyle/>
          <a:p>
            <a:pPr algn="ctr">
              <a:lnSpc>
                <a:spcPct val="120000"/>
              </a:lnSpc>
            </a:pPr>
            <a:r>
              <a:rPr sz="1050" b="0" i="0">
                <a:solidFill>
                  <a:srgbClr val="6E7C8C"/>
                </a:solidFill>
                <a:latin typeface="DM Mono"/>
              </a:rPr>
              <a:t>معالج تلاش کریں</a:t>
            </a:r>
          </a:p>
        </p:txBody>
      </p:sp>
      <p:pic>
        <p:nvPicPr>
          <p:cNvPr id="7" name="Picture 6" descr="emergency.jpg"/>
          <p:cNvPicPr>
            <a:picLocks noChangeAspect="1"/>
          </p:cNvPicPr>
          <p:nvPr/>
        </p:nvPicPr>
        <p:blipFill>
          <a:blip r:embed="rId3"/>
          <a:stretch>
            <a:fillRect/>
          </a:stretch>
        </p:blipFill>
        <p:spPr>
          <a:xfrm>
            <a:off x="6355080" y="2522646"/>
            <a:ext cx="5120640" cy="3092866"/>
          </a:xfrm>
          <a:prstGeom prst="rect">
            <a:avLst/>
          </a:prstGeom>
        </p:spPr>
      </p:pic>
      <p:sp>
        <p:nvSpPr>
          <p:cNvPr id="8" name="TextBox 7"/>
          <p:cNvSpPr txBox="1"/>
          <p:nvPr/>
        </p:nvSpPr>
        <p:spPr>
          <a:xfrm>
            <a:off x="6355080" y="5897880"/>
            <a:ext cx="5120640" cy="365760"/>
          </a:xfrm>
          <a:prstGeom prst="rect">
            <a:avLst/>
          </a:prstGeom>
          <a:noFill/>
        </p:spPr>
        <p:txBody>
          <a:bodyPr wrap="square">
            <a:spAutoFit/>
          </a:bodyPr>
          <a:lstStyle/>
          <a:p>
            <a:pPr algn="ctr">
              <a:lnSpc>
                <a:spcPct val="120000"/>
              </a:lnSpc>
            </a:pPr>
            <a:r>
              <a:rPr sz="1050" b="0" i="0">
                <a:solidFill>
                  <a:srgbClr val="6E7C8C"/>
                </a:solidFill>
                <a:latin typeface="DM Mono"/>
              </a:rPr>
              <a:t>فوری مدد</a:t>
            </a:r>
          </a:p>
        </p:txBody>
      </p:sp>
      <p:sp>
        <p:nvSpPr>
          <p:cNvPr id="9" name="TextBox 8"/>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10" name="TextBox 9"/>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06 / URDU LANGUAGE - TECHNICAL SAFETY</a:t>
            </a:r>
          </a:p>
        </p:txBody>
      </p:sp>
      <p:sp>
        <p:nvSpPr>
          <p:cNvPr id="4" name="TextBox 3"/>
          <p:cNvSpPr txBox="1"/>
          <p:nvPr/>
        </p:nvSpPr>
        <p:spPr>
          <a:xfrm>
            <a:off x="685800" y="777240"/>
            <a:ext cx="10607040" cy="1371600"/>
          </a:xfrm>
          <a:prstGeom prst="rect">
            <a:avLst/>
          </a:prstGeom>
          <a:noFill/>
        </p:spPr>
        <p:txBody>
          <a:bodyPr wrap="square">
            <a:spAutoFit/>
          </a:bodyPr>
          <a:lstStyle/>
          <a:p>
            <a:pPr algn="l">
              <a:lnSpc>
                <a:spcPct val="112000"/>
              </a:lnSpc>
            </a:pPr>
            <a:r>
              <a:rPr sz="2800" b="1" i="0">
                <a:solidFill>
                  <a:srgbClr val="24344A"/>
                </a:solidFill>
                <a:latin typeface="Georgia"/>
              </a:rPr>
              <a:t>Defense in depth: never show an</a:t>
            </a:r>
          </a:p>
          <a:p>
            <a:pPr algn="l">
              <a:lnSpc>
                <a:spcPct val="112000"/>
              </a:lnSpc>
            </a:pPr>
            <a:r>
              <a:rPr sz="2800" b="1" i="0">
                <a:solidFill>
                  <a:srgbClr val="24344A"/>
                </a:solidFill>
                <a:latin typeface="Georgia"/>
              </a:rPr>
              <a:t>English reply when Urdu was requested.</a:t>
            </a:r>
          </a:p>
        </p:txBody>
      </p:sp>
      <p:sp>
        <p:nvSpPr>
          <p:cNvPr id="5" name="TextBox 4"/>
          <p:cNvSpPr txBox="1"/>
          <p:nvPr/>
        </p:nvSpPr>
        <p:spPr>
          <a:xfrm>
            <a:off x="685800" y="2286000"/>
            <a:ext cx="10789920" cy="1280160"/>
          </a:xfrm>
          <a:prstGeom prst="rect">
            <a:avLst/>
          </a:prstGeom>
          <a:noFill/>
        </p:spPr>
        <p:txBody>
          <a:bodyPr wrap="square">
            <a:spAutoFit/>
          </a:bodyPr>
          <a:lstStyle/>
          <a:p>
            <a:pPr algn="l">
              <a:lnSpc>
                <a:spcPct val="135000"/>
              </a:lnSpc>
            </a:pPr>
            <a:r>
              <a:rPr sz="1300" b="0" i="0">
                <a:solidFill>
                  <a:srgbClr val="6E7C8C"/>
                </a:solidFill>
                <a:latin typeface="DM Sans"/>
              </a:rPr>
              <a:t>The AI's system prompt instructs Qwen to reply in the requested language - but LLMs don't always comply. MindHx adds a server-side guard, is_urdu_script(), that checks the letter composition of any generated reply. If Urdu was requested and the reply reads as English, it is discarded and replaced with the guaranteed-correct deterministic Urdu template.</a:t>
            </a:r>
          </a:p>
        </p:txBody>
      </p:sp>
      <p:sp>
        <p:nvSpPr>
          <p:cNvPr id="6" name="TextBox 5"/>
          <p:cNvSpPr txBox="1"/>
          <p:nvPr/>
        </p:nvSpPr>
        <p:spPr>
          <a:xfrm>
            <a:off x="685800" y="3749039"/>
            <a:ext cx="10789920" cy="1280160"/>
          </a:xfrm>
          <a:prstGeom prst="rect">
            <a:avLst/>
          </a:prstGeom>
          <a:noFill/>
        </p:spPr>
        <p:txBody>
          <a:bodyPr wrap="square">
            <a:spAutoFit/>
          </a:bodyPr>
          <a:lstStyle/>
          <a:p>
            <a:pPr algn="l">
              <a:lnSpc>
                <a:spcPct val="135000"/>
              </a:lnSpc>
            </a:pPr>
            <a:r>
              <a:rPr sz="1200" b="0" i="0">
                <a:solidFill>
                  <a:srgbClr val="2F8F6E"/>
                </a:solidFill>
                <a:latin typeface="DM Sans"/>
              </a:rPr>
              <a:t>if language == "ur" and not is_urdu_script(result["message"]):</a:t>
            </a:r>
          </a:p>
          <a:p>
            <a:pPr algn="l">
              <a:lnSpc>
                <a:spcPct val="135000"/>
              </a:lnSpc>
            </a:pPr>
            <a:r>
              <a:rPr sz="1200" b="0" i="0">
                <a:solidFill>
                  <a:srgbClr val="2F8F6E"/>
                </a:solidFill>
                <a:latin typeface="DM Sans"/>
              </a:rPr>
              <a:t>    return None  # fall back to the verified-Urdu template</a:t>
            </a:r>
          </a:p>
        </p:txBody>
      </p:sp>
      <p:sp>
        <p:nvSpPr>
          <p:cNvPr id="7" name="TextBox 6"/>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8" name="TextBox 7"/>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06 / URDU LANGUAGE - BEING HONEST</a:t>
            </a:r>
          </a:p>
        </p:txBody>
      </p:sp>
      <p:sp>
        <p:nvSpPr>
          <p:cNvPr id="4" name="TextBox 3"/>
          <p:cNvSpPr txBox="1"/>
          <p:nvPr/>
        </p:nvSpPr>
        <p:spPr>
          <a:xfrm>
            <a:off x="685800" y="777240"/>
            <a:ext cx="10607040" cy="1371600"/>
          </a:xfrm>
          <a:prstGeom prst="rect">
            <a:avLst/>
          </a:prstGeom>
          <a:noFill/>
        </p:spPr>
        <p:txBody>
          <a:bodyPr wrap="square">
            <a:spAutoFit/>
          </a:bodyPr>
          <a:lstStyle/>
          <a:p>
            <a:pPr algn="l">
              <a:lnSpc>
                <a:spcPct val="112000"/>
              </a:lnSpc>
            </a:pPr>
            <a:r>
              <a:rPr sz="2800" b="1" i="0">
                <a:solidFill>
                  <a:srgbClr val="24344A"/>
                </a:solidFill>
                <a:latin typeface="Georgia"/>
              </a:rPr>
              <a:t>A careful draft, not a validated</a:t>
            </a:r>
          </a:p>
          <a:p>
            <a:pPr algn="l">
              <a:lnSpc>
                <a:spcPct val="112000"/>
              </a:lnSpc>
            </a:pPr>
            <a:r>
              <a:rPr sz="2800" b="1" i="0">
                <a:solidFill>
                  <a:srgbClr val="24344A"/>
                </a:solidFill>
                <a:latin typeface="Georgia"/>
              </a:rPr>
              <a:t>instrument - and we say so.</a:t>
            </a:r>
          </a:p>
        </p:txBody>
      </p:sp>
      <p:sp>
        <p:nvSpPr>
          <p:cNvPr id="5" name="TextBox 4"/>
          <p:cNvSpPr txBox="1"/>
          <p:nvPr/>
        </p:nvSpPr>
        <p:spPr>
          <a:xfrm>
            <a:off x="685800" y="2286000"/>
            <a:ext cx="10789920" cy="1280160"/>
          </a:xfrm>
          <a:prstGeom prst="rect">
            <a:avLst/>
          </a:prstGeom>
          <a:noFill/>
        </p:spPr>
        <p:txBody>
          <a:bodyPr wrap="square">
            <a:spAutoFit/>
          </a:bodyPr>
          <a:lstStyle/>
          <a:p>
            <a:pPr algn="l">
              <a:lnSpc>
                <a:spcPct val="135000"/>
              </a:lnSpc>
            </a:pPr>
            <a:r>
              <a:rPr sz="1300" b="0" i="0">
                <a:solidFill>
                  <a:srgbClr val="6E7C8C"/>
                </a:solidFill>
                <a:latin typeface="DM Sans"/>
              </a:rPr>
              <a:t>The Urdu translation of PHQ-9, GAD-7, and K10 is a careful draft for this session, not a licensed clinical instrument - stated plainly on-screen whenever Urdu is active. Item 9 (self-harm ideation) is safety-critical in the validated instrument; shipping an unlicensed translation as clinical-grade would be irresponsible.</a:t>
            </a:r>
          </a:p>
        </p:txBody>
      </p:sp>
      <p:sp>
        <p:nvSpPr>
          <p:cNvPr id="6" name="TextBox 5"/>
          <p:cNvSpPr txBox="1"/>
          <p:nvPr/>
        </p:nvSpPr>
        <p:spPr>
          <a:xfrm>
            <a:off x="685800" y="3749039"/>
            <a:ext cx="10789920" cy="1280160"/>
          </a:xfrm>
          <a:prstGeom prst="rect">
            <a:avLst/>
          </a:prstGeom>
          <a:noFill/>
        </p:spPr>
        <p:txBody>
          <a:bodyPr wrap="square">
            <a:spAutoFit/>
          </a:bodyPr>
          <a:lstStyle/>
          <a:p>
            <a:pPr algn="l">
              <a:lnSpc>
                <a:spcPct val="135000"/>
              </a:lnSpc>
            </a:pPr>
            <a:r>
              <a:rPr sz="1300" b="0" i="1">
                <a:solidFill>
                  <a:srgbClr val="2F8F6E"/>
                </a:solidFill>
                <a:latin typeface="DM Sans"/>
              </a:rPr>
              <a:t>The roadmap is explicit: partnering for a properly validated Urdu instrument is the single highest-leverage localization gap remaining.</a:t>
            </a:r>
          </a:p>
        </p:txBody>
      </p:sp>
      <p:sp>
        <p:nvSpPr>
          <p:cNvPr id="7" name="TextBox 6"/>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8" name="TextBox 7"/>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07 / FUNCTIONS</a:t>
            </a:r>
          </a:p>
        </p:txBody>
      </p:sp>
      <p:sp>
        <p:nvSpPr>
          <p:cNvPr id="4" name="TextBox 3"/>
          <p:cNvSpPr txBox="1"/>
          <p:nvPr/>
        </p:nvSpPr>
        <p:spPr>
          <a:xfrm>
            <a:off x="685800" y="777240"/>
            <a:ext cx="10607040" cy="1280160"/>
          </a:xfrm>
          <a:prstGeom prst="rect">
            <a:avLst/>
          </a:prstGeom>
          <a:noFill/>
        </p:spPr>
        <p:txBody>
          <a:bodyPr wrap="square">
            <a:spAutoFit/>
          </a:bodyPr>
          <a:lstStyle/>
          <a:p>
            <a:pPr algn="l">
              <a:lnSpc>
                <a:spcPct val="112000"/>
              </a:lnSpc>
            </a:pPr>
            <a:r>
              <a:rPr sz="3200" b="1" i="0">
                <a:solidFill>
                  <a:srgbClr val="24344A"/>
                </a:solidFill>
                <a:latin typeface="Georgia"/>
              </a:rPr>
              <a:t>Everything the app actually does.</a:t>
            </a:r>
          </a:p>
        </p:txBody>
      </p:sp>
      <p:sp>
        <p:nvSpPr>
          <p:cNvPr id="5" name="TextBox 4"/>
          <p:cNvSpPr txBox="1"/>
          <p:nvPr/>
        </p:nvSpPr>
        <p:spPr>
          <a:xfrm>
            <a:off x="822960" y="2331720"/>
            <a:ext cx="5212080" cy="320040"/>
          </a:xfrm>
          <a:prstGeom prst="rect">
            <a:avLst/>
          </a:prstGeom>
          <a:noFill/>
        </p:spPr>
        <p:txBody>
          <a:bodyPr wrap="square">
            <a:spAutoFit/>
          </a:bodyPr>
          <a:lstStyle/>
          <a:p>
            <a:pPr algn="l">
              <a:lnSpc>
                <a:spcPct val="120000"/>
              </a:lnSpc>
            </a:pPr>
            <a:r>
              <a:rPr sz="1200" b="1" i="0">
                <a:solidFill>
                  <a:srgbClr val="2F8F6E"/>
                </a:solidFill>
                <a:latin typeface="DM Mono"/>
              </a:rPr>
              <a:t>CORE</a:t>
            </a:r>
          </a:p>
        </p:txBody>
      </p:sp>
      <p:sp>
        <p:nvSpPr>
          <p:cNvPr id="6" name="TextBox 5"/>
          <p:cNvSpPr txBox="1"/>
          <p:nvPr/>
        </p:nvSpPr>
        <p:spPr>
          <a:xfrm>
            <a:off x="822960" y="2743200"/>
            <a:ext cx="5212080" cy="3200400"/>
          </a:xfrm>
          <a:prstGeom prst="rect">
            <a:avLst/>
          </a:prstGeom>
          <a:noFill/>
        </p:spPr>
        <p:txBody>
          <a:bodyPr wrap="square">
            <a:spAutoFit/>
          </a:bodyPr>
          <a:lstStyle/>
          <a:p>
            <a:pPr algn="l">
              <a:lnSpc>
                <a:spcPct val="130000"/>
              </a:lnSpc>
            </a:pPr>
            <a:r>
              <a:rPr sz="1250" b="0" i="0">
                <a:solidFill>
                  <a:srgbClr val="24344A"/>
                </a:solidFill>
                <a:latin typeface="DM Sans"/>
              </a:rPr>
              <a:t>Voice, text, and PHQ-9/GAD-7/K10 check-in with a live combined-signal preview</a:t>
            </a:r>
          </a:p>
          <a:p>
            <a:pPr algn="l">
              <a:lnSpc>
                <a:spcPct val="130000"/>
              </a:lnSpc>
            </a:pPr>
            <a:r>
              <a:rPr sz="1250" b="0" i="0">
                <a:solidFill>
                  <a:srgbClr val="24344A"/>
                </a:solidFill>
                <a:latin typeface="DM Sans"/>
              </a:rPr>
              <a:t/>
            </a:r>
          </a:p>
          <a:p>
            <a:pPr algn="l">
              <a:lnSpc>
                <a:spcPct val="130000"/>
              </a:lnSpc>
            </a:pPr>
            <a:r>
              <a:rPr sz="1250" b="0" i="0">
                <a:solidFill>
                  <a:srgbClr val="24344A"/>
                </a:solidFill>
                <a:latin typeface="DM Sans"/>
              </a:rPr>
              <a:t>Explainable per-signal attribution on the results page</a:t>
            </a:r>
          </a:p>
          <a:p>
            <a:pPr algn="l">
              <a:lnSpc>
                <a:spcPct val="130000"/>
              </a:lnSpc>
            </a:pPr>
            <a:r>
              <a:rPr sz="1250" b="0" i="0">
                <a:solidFill>
                  <a:srgbClr val="24344A"/>
                </a:solidFill>
                <a:latin typeface="DM Sans"/>
              </a:rPr>
              <a:t/>
            </a:r>
          </a:p>
          <a:p>
            <a:pPr algn="l">
              <a:lnSpc>
                <a:spcPct val="130000"/>
              </a:lnSpc>
            </a:pPr>
            <a:r>
              <a:rPr sz="1250" b="0" i="0">
                <a:solidFill>
                  <a:srgbClr val="24344A"/>
                </a:solidFill>
                <a:latin typeface="DM Sans"/>
              </a:rPr>
              <a:t>Crisis short-circuiting straight to Emergency Support</a:t>
            </a:r>
          </a:p>
          <a:p>
            <a:pPr algn="l">
              <a:lnSpc>
                <a:spcPct val="130000"/>
              </a:lnSpc>
            </a:pPr>
            <a:r>
              <a:rPr sz="1250" b="0" i="0">
                <a:solidFill>
                  <a:srgbClr val="24344A"/>
                </a:solidFill>
                <a:latin typeface="DM Sans"/>
              </a:rPr>
              <a:t/>
            </a:r>
          </a:p>
          <a:p>
            <a:pPr algn="l">
              <a:lnSpc>
                <a:spcPct val="130000"/>
              </a:lnSpc>
            </a:pPr>
            <a:r>
              <a:rPr sz="1250" b="0" i="0">
                <a:solidFill>
                  <a:srgbClr val="24344A"/>
                </a:solidFill>
                <a:latin typeface="DM Sans"/>
              </a:rPr>
              <a:t>Bounded, source-grounded AI chat with interactive exercises</a:t>
            </a:r>
          </a:p>
        </p:txBody>
      </p:sp>
      <p:sp>
        <p:nvSpPr>
          <p:cNvPr id="7" name="TextBox 6"/>
          <p:cNvSpPr txBox="1"/>
          <p:nvPr/>
        </p:nvSpPr>
        <p:spPr>
          <a:xfrm>
            <a:off x="6309360" y="2331720"/>
            <a:ext cx="5212080" cy="320040"/>
          </a:xfrm>
          <a:prstGeom prst="rect">
            <a:avLst/>
          </a:prstGeom>
          <a:noFill/>
        </p:spPr>
        <p:txBody>
          <a:bodyPr wrap="square">
            <a:spAutoFit/>
          </a:bodyPr>
          <a:lstStyle/>
          <a:p>
            <a:pPr algn="l">
              <a:lnSpc>
                <a:spcPct val="120000"/>
              </a:lnSpc>
            </a:pPr>
            <a:r>
              <a:rPr sz="1200" b="1" i="0">
                <a:solidFill>
                  <a:srgbClr val="E98232"/>
                </a:solidFill>
                <a:latin typeface="DM Mono"/>
              </a:rPr>
              <a:t>SUPPORT</a:t>
            </a:r>
          </a:p>
        </p:txBody>
      </p:sp>
      <p:sp>
        <p:nvSpPr>
          <p:cNvPr id="8" name="TextBox 7"/>
          <p:cNvSpPr txBox="1"/>
          <p:nvPr/>
        </p:nvSpPr>
        <p:spPr>
          <a:xfrm>
            <a:off x="6309360" y="2743200"/>
            <a:ext cx="5212080" cy="3200400"/>
          </a:xfrm>
          <a:prstGeom prst="rect">
            <a:avLst/>
          </a:prstGeom>
          <a:noFill/>
        </p:spPr>
        <p:txBody>
          <a:bodyPr wrap="square">
            <a:spAutoFit/>
          </a:bodyPr>
          <a:lstStyle/>
          <a:p>
            <a:pPr algn="l">
              <a:lnSpc>
                <a:spcPct val="130000"/>
              </a:lnSpc>
            </a:pPr>
            <a:r>
              <a:rPr sz="1250" b="0" i="0">
                <a:solidFill>
                  <a:srgbClr val="24344A"/>
                </a:solidFill>
                <a:latin typeface="DM Sans"/>
              </a:rPr>
              <a:t>Meditation and therapy libraries with original 3D step icons</a:t>
            </a:r>
          </a:p>
          <a:p>
            <a:pPr algn="l">
              <a:lnSpc>
                <a:spcPct val="130000"/>
              </a:lnSpc>
            </a:pPr>
            <a:r>
              <a:rPr sz="1250" b="0" i="0">
                <a:solidFill>
                  <a:srgbClr val="24344A"/>
                </a:solidFill>
                <a:latin typeface="DM Sans"/>
              </a:rPr>
              <a:t/>
            </a:r>
          </a:p>
          <a:p>
            <a:pPr algn="l">
              <a:lnSpc>
                <a:spcPct val="130000"/>
              </a:lnSpc>
            </a:pPr>
            <a:r>
              <a:rPr sz="1250" b="0" i="0">
                <a:solidFill>
                  <a:srgbClr val="24344A"/>
                </a:solidFill>
                <a:latin typeface="DM Sans"/>
              </a:rPr>
              <a:t>Verified Pakistan therapist/psychiatrist directory, city by city</a:t>
            </a:r>
          </a:p>
          <a:p>
            <a:pPr algn="l">
              <a:lnSpc>
                <a:spcPct val="130000"/>
              </a:lnSpc>
            </a:pPr>
            <a:r>
              <a:rPr sz="1250" b="0" i="0">
                <a:solidFill>
                  <a:srgbClr val="24344A"/>
                </a:solidFill>
                <a:latin typeface="DM Sans"/>
              </a:rPr>
              <a:t/>
            </a:r>
          </a:p>
          <a:p>
            <a:pPr algn="l">
              <a:lnSpc>
                <a:spcPct val="130000"/>
              </a:lnSpc>
            </a:pPr>
            <a:r>
              <a:rPr sz="1250" b="0" i="0">
                <a:solidFill>
                  <a:srgbClr val="24344A"/>
                </a:solidFill>
                <a:latin typeface="DM Sans"/>
              </a:rPr>
              <a:t>Full English/Urdu bilingual UI, everywhere</a:t>
            </a:r>
          </a:p>
          <a:p>
            <a:pPr algn="l">
              <a:lnSpc>
                <a:spcPct val="130000"/>
              </a:lnSpc>
            </a:pPr>
            <a:r>
              <a:rPr sz="1250" b="0" i="0">
                <a:solidFill>
                  <a:srgbClr val="24344A"/>
                </a:solidFill>
                <a:latin typeface="DM Sans"/>
              </a:rPr>
              <a:t/>
            </a:r>
          </a:p>
          <a:p>
            <a:pPr algn="l">
              <a:lnSpc>
                <a:spcPct val="130000"/>
              </a:lnSpc>
            </a:pPr>
            <a:r>
              <a:rPr sz="1250" b="0" i="0">
                <a:solidFill>
                  <a:srgbClr val="24344A"/>
                </a:solidFill>
                <a:latin typeface="DM Sans"/>
              </a:rPr>
              <a:t>Optional accounts for saved check-in history</a:t>
            </a:r>
          </a:p>
        </p:txBody>
      </p:sp>
      <p:sp>
        <p:nvSpPr>
          <p:cNvPr id="9" name="TextBox 8"/>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10" name="TextBox 9"/>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08 / TECHNICAL ARCHITECTURE</a:t>
            </a:r>
          </a:p>
        </p:txBody>
      </p:sp>
      <p:sp>
        <p:nvSpPr>
          <p:cNvPr id="4" name="TextBox 3"/>
          <p:cNvSpPr txBox="1"/>
          <p:nvPr/>
        </p:nvSpPr>
        <p:spPr>
          <a:xfrm>
            <a:off x="685800" y="777240"/>
            <a:ext cx="10607040" cy="1371600"/>
          </a:xfrm>
          <a:prstGeom prst="rect">
            <a:avLst/>
          </a:prstGeom>
          <a:noFill/>
        </p:spPr>
        <p:txBody>
          <a:bodyPr wrap="square">
            <a:spAutoFit/>
          </a:bodyPr>
          <a:lstStyle/>
          <a:p>
            <a:pPr algn="l">
              <a:lnSpc>
                <a:spcPct val="112000"/>
              </a:lnSpc>
            </a:pPr>
            <a:r>
              <a:rPr sz="3200" b="1" i="0">
                <a:solidFill>
                  <a:srgbClr val="24344A"/>
                </a:solidFill>
                <a:latin typeface="Georgia"/>
              </a:rPr>
              <a:t>Two services. Stateless by default.</a:t>
            </a:r>
          </a:p>
        </p:txBody>
      </p:sp>
      <p:sp>
        <p:nvSpPr>
          <p:cNvPr id="5" name="TextBox 4"/>
          <p:cNvSpPr txBox="1"/>
          <p:nvPr/>
        </p:nvSpPr>
        <p:spPr>
          <a:xfrm>
            <a:off x="685800" y="2286000"/>
            <a:ext cx="10789920" cy="1280160"/>
          </a:xfrm>
          <a:prstGeom prst="rect">
            <a:avLst/>
          </a:prstGeom>
          <a:noFill/>
        </p:spPr>
        <p:txBody>
          <a:bodyPr wrap="square">
            <a:spAutoFit/>
          </a:bodyPr>
          <a:lstStyle/>
          <a:p>
            <a:pPr algn="l">
              <a:lnSpc>
                <a:spcPct val="135000"/>
              </a:lnSpc>
            </a:pPr>
            <a:r>
              <a:rPr sz="1300" b="0" i="0">
                <a:solidFill>
                  <a:srgbClr val="6E7C8C"/>
                </a:solidFill>
                <a:latin typeface="DM Sans"/>
              </a:rPr>
              <a:t>A Next.js 16 (App Router) frontend and a FastAPI backend. The screening/risk-assessment endpoints are fully stateless - every request self-contained, nothing persisted. An optional layer adds PostgreSQL-backed accounts purely for people who choose to save history.</a:t>
            </a:r>
          </a:p>
        </p:txBody>
      </p:sp>
      <p:sp>
        <p:nvSpPr>
          <p:cNvPr id="6" name="Rounded Rectangle 5"/>
          <p:cNvSpPr/>
          <p:nvPr/>
        </p:nvSpPr>
        <p:spPr>
          <a:xfrm>
            <a:off x="685800" y="2834640"/>
            <a:ext cx="2270683" cy="118872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C6FBA"/>
                </a:solidFill>
                <a:latin typeface="Georgia"/>
              </a:rPr>
              <a:t>20</a:t>
            </a:r>
          </a:p>
          <a:p>
            <a:pPr algn="ctr"/>
            <a:r>
              <a:rPr sz="950">
                <a:solidFill>
                  <a:srgbClr val="6E7C8C"/>
                </a:solidFill>
              </a:rPr>
              <a:t>BACKEND ENDPOINTS</a:t>
            </a:r>
          </a:p>
        </p:txBody>
      </p:sp>
      <p:sp>
        <p:nvSpPr>
          <p:cNvPr id="7" name="Rounded Rectangle 6"/>
          <p:cNvSpPr/>
          <p:nvPr/>
        </p:nvSpPr>
        <p:spPr>
          <a:xfrm>
            <a:off x="3230803" y="2834640"/>
            <a:ext cx="2270683" cy="118872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C6FBA"/>
                </a:solidFill>
                <a:latin typeface="Georgia"/>
              </a:rPr>
              <a:t>12</a:t>
            </a:r>
          </a:p>
          <a:p>
            <a:pPr algn="ctr"/>
            <a:r>
              <a:rPr sz="950">
                <a:solidFill>
                  <a:srgbClr val="6E7C8C"/>
                </a:solidFill>
              </a:rPr>
              <a:t>FRONTEND ROUTES</a:t>
            </a:r>
          </a:p>
        </p:txBody>
      </p:sp>
      <p:sp>
        <p:nvSpPr>
          <p:cNvPr id="8" name="Rounded Rectangle 7"/>
          <p:cNvSpPr/>
          <p:nvPr/>
        </p:nvSpPr>
        <p:spPr>
          <a:xfrm>
            <a:off x="5775807" y="2834640"/>
            <a:ext cx="2270683" cy="118872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C6FBA"/>
                </a:solidFill>
                <a:latin typeface="Georgia"/>
              </a:rPr>
              <a:t>23</a:t>
            </a:r>
          </a:p>
          <a:p>
            <a:pPr algn="ctr"/>
            <a:r>
              <a:rPr sz="950">
                <a:solidFill>
                  <a:srgbClr val="6E7C8C"/>
                </a:solidFill>
              </a:rPr>
              <a:t>BACKEND TESTS</a:t>
            </a:r>
          </a:p>
        </p:txBody>
      </p:sp>
      <p:sp>
        <p:nvSpPr>
          <p:cNvPr id="9" name="Rounded Rectangle 8"/>
          <p:cNvSpPr/>
          <p:nvPr/>
        </p:nvSpPr>
        <p:spPr>
          <a:xfrm>
            <a:off x="8320811" y="2834640"/>
            <a:ext cx="2270683" cy="118872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C6FBA"/>
                </a:solidFill>
                <a:latin typeface="Georgia"/>
              </a:rPr>
              <a:t>2</a:t>
            </a:r>
          </a:p>
          <a:p>
            <a:pPr algn="ctr"/>
            <a:r>
              <a:rPr sz="950">
                <a:solidFill>
                  <a:srgbClr val="6E7C8C"/>
                </a:solidFill>
              </a:rPr>
              <a:t>LANGUAGES</a:t>
            </a:r>
          </a:p>
        </p:txBody>
      </p:sp>
      <p:sp>
        <p:nvSpPr>
          <p:cNvPr id="10" name="TextBox 9"/>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11" name="TextBox 10"/>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08 / TECHNICAL ARCHITECTURE</a:t>
            </a:r>
          </a:p>
        </p:txBody>
      </p:sp>
      <p:sp>
        <p:nvSpPr>
          <p:cNvPr id="4" name="TextBox 3"/>
          <p:cNvSpPr txBox="1"/>
          <p:nvPr/>
        </p:nvSpPr>
        <p:spPr>
          <a:xfrm>
            <a:off x="685800" y="777240"/>
            <a:ext cx="10058400" cy="548640"/>
          </a:xfrm>
          <a:prstGeom prst="rect">
            <a:avLst/>
          </a:prstGeom>
          <a:noFill/>
        </p:spPr>
        <p:txBody>
          <a:bodyPr wrap="square">
            <a:spAutoFit/>
          </a:bodyPr>
          <a:lstStyle/>
          <a:p>
            <a:pPr algn="l">
              <a:lnSpc>
                <a:spcPct val="120000"/>
              </a:lnSpc>
            </a:pPr>
            <a:r>
              <a:rPr sz="2600" b="1" i="0">
                <a:solidFill>
                  <a:srgbClr val="24344A"/>
                </a:solidFill>
                <a:latin typeface="Georgia"/>
              </a:rPr>
              <a:t>Selected backend endpoints</a:t>
            </a:r>
          </a:p>
        </p:txBody>
      </p:sp>
      <p:graphicFrame>
        <p:nvGraphicFramePr>
          <p:cNvPr id="5" name="Table 4"/>
          <p:cNvGraphicFramePr>
            <a:graphicFrameLocks noGrp="1"/>
          </p:cNvGraphicFramePr>
          <p:nvPr/>
        </p:nvGraphicFramePr>
        <p:xfrm>
          <a:off x="685800" y="1737360"/>
          <a:ext cx="10789919" cy="4206240"/>
        </p:xfrm>
        <a:graphic>
          <a:graphicData uri="http://schemas.openxmlformats.org/drawingml/2006/table">
            <a:tbl>
              <a:tblPr firstRow="1" bandRow="1">
                <a:tableStyleId>{5C22544A-7EE6-4342-B048-85BDC9FD1C3A}</a:tableStyleId>
              </a:tblPr>
              <a:tblGrid>
                <a:gridCol w="3291840"/>
                <a:gridCol w="7498079"/>
              </a:tblGrid>
              <a:tr h="525780">
                <a:tc>
                  <a:txBody>
                    <a:bodyPr/>
                    <a:lstStyle/>
                    <a:p>
                      <a:r>
                        <a:rPr b="1" sz="1100">
                          <a:solidFill>
                            <a:srgbClr val="2C6FBA"/>
                          </a:solidFill>
                        </a:rPr>
                        <a:t>Endpoint</a:t>
                      </a:r>
                    </a:p>
                  </a:txBody>
                  <a:tcPr>
                    <a:solidFill>
                      <a:srgbClr val="FBF3E6"/>
                    </a:solidFill>
                  </a:tcPr>
                </a:tc>
                <a:tc>
                  <a:txBody>
                    <a:bodyPr/>
                    <a:lstStyle/>
                    <a:p>
                      <a:r>
                        <a:rPr b="1" sz="1100">
                          <a:solidFill>
                            <a:srgbClr val="2C6FBA"/>
                          </a:solidFill>
                        </a:rPr>
                        <a:t>Purpose</a:t>
                      </a:r>
                    </a:p>
                  </a:txBody>
                  <a:tcPr>
                    <a:solidFill>
                      <a:srgbClr val="FBF3E6"/>
                    </a:solidFill>
                  </a:tcPr>
                </a:tc>
              </a:tr>
              <a:tr h="525780">
                <a:tc>
                  <a:txBody>
                    <a:bodyPr/>
                    <a:lstStyle/>
                    <a:p>
                      <a:r>
                        <a:rPr sz="1050">
                          <a:solidFill>
                            <a:srgbClr val="2F8F6E"/>
                          </a:solidFill>
                          <a:latin typeface="DM Mono"/>
                        </a:rPr>
                        <a:t>POST /analyze-voice</a:t>
                      </a:r>
                    </a:p>
                  </a:txBody>
                  <a:tcPr>
                    <a:solidFill>
                      <a:srgbClr val="FFFFFF"/>
                    </a:solidFill>
                  </a:tcPr>
                </a:tc>
                <a:tc>
                  <a:txBody>
                    <a:bodyPr/>
                    <a:lstStyle/>
                    <a:p>
                      <a:r>
                        <a:rPr sz="1050">
                          <a:solidFill>
                            <a:srgbClr val="24344A"/>
                          </a:solidFill>
                        </a:rPr>
                        <a:t>Heuristic prosodic signal - pluggable via VOICE_BIOMARKER_PROVIDER</a:t>
                      </a:r>
                    </a:p>
                  </a:txBody>
                  <a:tcPr>
                    <a:solidFill>
                      <a:srgbClr val="FFFFFF"/>
                    </a:solidFill>
                  </a:tcPr>
                </a:tc>
              </a:tr>
              <a:tr h="525780">
                <a:tc>
                  <a:txBody>
                    <a:bodyPr/>
                    <a:lstStyle/>
                    <a:p>
                      <a:r>
                        <a:rPr sz="1050">
                          <a:solidFill>
                            <a:srgbClr val="2F8F6E"/>
                          </a:solidFill>
                          <a:latin typeface="DM Mono"/>
                        </a:rPr>
                        <a:t>POST /analyze-text</a:t>
                      </a:r>
                    </a:p>
                  </a:txBody>
                  <a:tcPr>
                    <a:solidFill>
                      <a:srgbClr val="FFFFFF"/>
                    </a:solidFill>
                  </a:tcPr>
                </a:tc>
                <a:tc>
                  <a:txBody>
                    <a:bodyPr/>
                    <a:lstStyle/>
                    <a:p>
                      <a:r>
                        <a:rPr sz="1050">
                          <a:solidFill>
                            <a:srgbClr val="24344A"/>
                          </a:solidFill>
                        </a:rPr>
                        <a:t>Sentiment + crisis detection - Qwen -&gt; OpenRouter -&gt; heuristic fallback</a:t>
                      </a:r>
                    </a:p>
                  </a:txBody>
                  <a:tcPr>
                    <a:solidFill>
                      <a:srgbClr val="FFFFFF"/>
                    </a:solidFill>
                  </a:tcPr>
                </a:tc>
              </a:tr>
              <a:tr h="525780">
                <a:tc>
                  <a:txBody>
                    <a:bodyPr/>
                    <a:lstStyle/>
                    <a:p>
                      <a:r>
                        <a:rPr sz="1050">
                          <a:solidFill>
                            <a:srgbClr val="2F8F6E"/>
                          </a:solidFill>
                          <a:latin typeface="DM Mono"/>
                        </a:rPr>
                        <a:t>POST /ai/chat</a:t>
                      </a:r>
                    </a:p>
                  </a:txBody>
                  <a:tcPr>
                    <a:solidFill>
                      <a:srgbClr val="FFFFFF"/>
                    </a:solidFill>
                  </a:tcPr>
                </a:tc>
                <a:tc>
                  <a:txBody>
                    <a:bodyPr/>
                    <a:lstStyle/>
                    <a:p>
                      <a:r>
                        <a:rPr sz="1050">
                          <a:solidFill>
                            <a:srgbClr val="24344A"/>
                          </a:solidFill>
                        </a:rPr>
                        <a:t>Bounded, source-grounded chat; safety-gated; Urdu-script guard on replies</a:t>
                      </a:r>
                    </a:p>
                  </a:txBody>
                  <a:tcPr>
                    <a:solidFill>
                      <a:srgbClr val="FFFFFF"/>
                    </a:solidFill>
                  </a:tcPr>
                </a:tc>
              </a:tr>
              <a:tr h="525780">
                <a:tc>
                  <a:txBody>
                    <a:bodyPr/>
                    <a:lstStyle/>
                    <a:p>
                      <a:r>
                        <a:rPr sz="1050">
                          <a:solidFill>
                            <a:srgbClr val="2F8F6E"/>
                          </a:solidFill>
                          <a:latin typeface="DM Mono"/>
                        </a:rPr>
                        <a:t>POST /risk-assess</a:t>
                      </a:r>
                    </a:p>
                  </a:txBody>
                  <a:tcPr>
                    <a:solidFill>
                      <a:srgbClr val="FFFFFF"/>
                    </a:solidFill>
                  </a:tcPr>
                </a:tc>
                <a:tc>
                  <a:txBody>
                    <a:bodyPr/>
                    <a:lstStyle/>
                    <a:p>
                      <a:r>
                        <a:rPr sz="1050">
                          <a:solidFill>
                            <a:srgbClr val="24344A"/>
                          </a:solidFill>
                        </a:rPr>
                        <a:t>Fuses all signals into the combined score, band, and routing decision</a:t>
                      </a:r>
                    </a:p>
                  </a:txBody>
                  <a:tcPr>
                    <a:solidFill>
                      <a:srgbClr val="FFFFFF"/>
                    </a:solidFill>
                  </a:tcPr>
                </a:tc>
              </a:tr>
              <a:tr h="525780">
                <a:tc>
                  <a:txBody>
                    <a:bodyPr/>
                    <a:lstStyle/>
                    <a:p>
                      <a:r>
                        <a:rPr sz="1050">
                          <a:solidFill>
                            <a:srgbClr val="2F8F6E"/>
                          </a:solidFill>
                          <a:latin typeface="DM Mono"/>
                        </a:rPr>
                        <a:t>POST /score-phq9, /score-gad7, /score-k10</a:t>
                      </a:r>
                    </a:p>
                  </a:txBody>
                  <a:tcPr>
                    <a:solidFill>
                      <a:srgbClr val="FFFFFF"/>
                    </a:solidFill>
                  </a:tcPr>
                </a:tc>
                <a:tc>
                  <a:txBody>
                    <a:bodyPr/>
                    <a:lstStyle/>
                    <a:p>
                      <a:r>
                        <a:rPr sz="1050">
                          <a:solidFill>
                            <a:srgbClr val="24344A"/>
                          </a:solidFill>
                        </a:rPr>
                        <a:t>Individual validated-questionnaire scoring</a:t>
                      </a:r>
                    </a:p>
                  </a:txBody>
                  <a:tcPr>
                    <a:solidFill>
                      <a:srgbClr val="FFFFFF"/>
                    </a:solidFill>
                  </a:tcPr>
                </a:tc>
              </a:tr>
              <a:tr h="525780">
                <a:tc>
                  <a:txBody>
                    <a:bodyPr/>
                    <a:lstStyle/>
                    <a:p>
                      <a:r>
                        <a:rPr sz="1050">
                          <a:solidFill>
                            <a:srgbClr val="2F8F6E"/>
                          </a:solidFill>
                          <a:latin typeface="DM Mono"/>
                        </a:rPr>
                        <a:t>POST /auth/register, /auth/login</a:t>
                      </a:r>
                    </a:p>
                  </a:txBody>
                  <a:tcPr>
                    <a:solidFill>
                      <a:srgbClr val="FFFFFF"/>
                    </a:solidFill>
                  </a:tcPr>
                </a:tc>
                <a:tc>
                  <a:txBody>
                    <a:bodyPr/>
                    <a:lstStyle/>
                    <a:p>
                      <a:r>
                        <a:rPr sz="1050">
                          <a:solidFill>
                            <a:srgbClr val="24344A"/>
                          </a:solidFill>
                        </a:rPr>
                        <a:t>Optional account creation/sign-in - bcrypt + JWT</a:t>
                      </a:r>
                    </a:p>
                  </a:txBody>
                  <a:tcPr>
                    <a:solidFill>
                      <a:srgbClr val="FFFFFF"/>
                    </a:solidFill>
                  </a:tcPr>
                </a:tc>
              </a:tr>
              <a:tr h="525780">
                <a:tc>
                  <a:txBody>
                    <a:bodyPr/>
                    <a:lstStyle/>
                    <a:p>
                      <a:r>
                        <a:rPr sz="1050">
                          <a:solidFill>
                            <a:srgbClr val="2F8F6E"/>
                          </a:solidFill>
                          <a:latin typeface="DM Mono"/>
                        </a:rPr>
                        <a:t>POST /synthesize</a:t>
                      </a:r>
                    </a:p>
                  </a:txBody>
                  <a:tcPr>
                    <a:solidFill>
                      <a:srgbClr val="FFFFFF"/>
                    </a:solidFill>
                  </a:tcPr>
                </a:tc>
                <a:tc>
                  <a:txBody>
                    <a:bodyPr/>
                    <a:lstStyle/>
                    <a:p>
                      <a:r>
                        <a:rPr sz="1050">
                          <a:solidFill>
                            <a:srgbClr val="24344A"/>
                          </a:solidFill>
                        </a:rPr>
                        <a:t>Urdu text-to-speech via Uplift AI</a:t>
                      </a:r>
                    </a:p>
                  </a:txBody>
                  <a:tcPr>
                    <a:solidFill>
                      <a:srgbClr val="FFFFFF"/>
                    </a:solidFill>
                  </a:tcPr>
                </a:tc>
              </a:tr>
            </a:tbl>
          </a:graphicData>
        </a:graphic>
      </p:graphicFrame>
      <p:sp>
        <p:nvSpPr>
          <p:cNvPr id="6" name="TextBox 5"/>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7" name="TextBox 6"/>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08 / QUALITY &amp; SAFETY DESIGN</a:t>
            </a:r>
          </a:p>
        </p:txBody>
      </p:sp>
      <p:sp>
        <p:nvSpPr>
          <p:cNvPr id="4" name="TextBox 3"/>
          <p:cNvSpPr txBox="1"/>
          <p:nvPr/>
        </p:nvSpPr>
        <p:spPr>
          <a:xfrm>
            <a:off x="685800" y="777240"/>
            <a:ext cx="10607040" cy="1280160"/>
          </a:xfrm>
          <a:prstGeom prst="rect">
            <a:avLst/>
          </a:prstGeom>
          <a:noFill/>
        </p:spPr>
        <p:txBody>
          <a:bodyPr wrap="square">
            <a:spAutoFit/>
          </a:bodyPr>
          <a:lstStyle/>
          <a:p>
            <a:pPr algn="l">
              <a:lnSpc>
                <a:spcPct val="112000"/>
              </a:lnSpc>
            </a:pPr>
            <a:r>
              <a:rPr sz="3200" b="1" i="0">
                <a:solidFill>
                  <a:srgbClr val="24344A"/>
                </a:solidFill>
                <a:latin typeface="Georgia"/>
              </a:rPr>
              <a:t>Verified, not assumed.</a:t>
            </a:r>
          </a:p>
        </p:txBody>
      </p:sp>
      <p:sp>
        <p:nvSpPr>
          <p:cNvPr id="5" name="TextBox 4"/>
          <p:cNvSpPr txBox="1"/>
          <p:nvPr/>
        </p:nvSpPr>
        <p:spPr>
          <a:xfrm>
            <a:off x="822960" y="2331720"/>
            <a:ext cx="5212080" cy="320040"/>
          </a:xfrm>
          <a:prstGeom prst="rect">
            <a:avLst/>
          </a:prstGeom>
          <a:noFill/>
        </p:spPr>
        <p:txBody>
          <a:bodyPr wrap="square">
            <a:spAutoFit/>
          </a:bodyPr>
          <a:lstStyle/>
          <a:p>
            <a:pPr algn="l">
              <a:lnSpc>
                <a:spcPct val="120000"/>
              </a:lnSpc>
            </a:pPr>
            <a:r>
              <a:rPr sz="1200" b="1" i="0">
                <a:solidFill>
                  <a:srgbClr val="2F8F6E"/>
                </a:solidFill>
                <a:latin typeface="DM Mono"/>
              </a:rPr>
              <a:t>TESTED</a:t>
            </a:r>
          </a:p>
        </p:txBody>
      </p:sp>
      <p:sp>
        <p:nvSpPr>
          <p:cNvPr id="6" name="TextBox 5"/>
          <p:cNvSpPr txBox="1"/>
          <p:nvPr/>
        </p:nvSpPr>
        <p:spPr>
          <a:xfrm>
            <a:off x="822960" y="2743200"/>
            <a:ext cx="5212080" cy="3200400"/>
          </a:xfrm>
          <a:prstGeom prst="rect">
            <a:avLst/>
          </a:prstGeom>
          <a:noFill/>
        </p:spPr>
        <p:txBody>
          <a:bodyPr wrap="square">
            <a:spAutoFit/>
          </a:bodyPr>
          <a:lstStyle/>
          <a:p>
            <a:pPr algn="l">
              <a:lnSpc>
                <a:spcPct val="130000"/>
              </a:lnSpc>
            </a:pPr>
            <a:r>
              <a:rPr sz="1250" b="0" i="0">
                <a:solidFill>
                  <a:srgbClr val="24344A"/>
                </a:solidFill>
                <a:latin typeface="DM Sans"/>
              </a:rPr>
              <a:t>23 backend tests: crisis short-circuiting, bilingual chat, risk-fusion math, account flow</a:t>
            </a:r>
          </a:p>
          <a:p>
            <a:pPr algn="l">
              <a:lnSpc>
                <a:spcPct val="130000"/>
              </a:lnSpc>
            </a:pPr>
            <a:r>
              <a:rPr sz="1250" b="0" i="0">
                <a:solidFill>
                  <a:srgbClr val="24344A"/>
                </a:solidFill>
                <a:latin typeface="DM Sans"/>
              </a:rPr>
              <a:t/>
            </a:r>
          </a:p>
          <a:p>
            <a:pPr algn="l">
              <a:lnSpc>
                <a:spcPct val="130000"/>
              </a:lnSpc>
            </a:pPr>
            <a:r>
              <a:rPr sz="1250" b="0" i="0">
                <a:solidFill>
                  <a:srgbClr val="24344A"/>
                </a:solidFill>
                <a:latin typeface="DM Sans"/>
              </a:rPr>
              <a:t>Type-checked and linted on every change - tsc --noEmit, eslint</a:t>
            </a:r>
          </a:p>
        </p:txBody>
      </p:sp>
      <p:sp>
        <p:nvSpPr>
          <p:cNvPr id="7" name="TextBox 6"/>
          <p:cNvSpPr txBox="1"/>
          <p:nvPr/>
        </p:nvSpPr>
        <p:spPr>
          <a:xfrm>
            <a:off x="6309360" y="2331720"/>
            <a:ext cx="5212080" cy="320040"/>
          </a:xfrm>
          <a:prstGeom prst="rect">
            <a:avLst/>
          </a:prstGeom>
          <a:noFill/>
        </p:spPr>
        <p:txBody>
          <a:bodyPr wrap="square">
            <a:spAutoFit/>
          </a:bodyPr>
          <a:lstStyle/>
          <a:p>
            <a:pPr algn="l">
              <a:lnSpc>
                <a:spcPct val="120000"/>
              </a:lnSpc>
            </a:pPr>
            <a:r>
              <a:rPr sz="1200" b="1" i="0">
                <a:solidFill>
                  <a:srgbClr val="E98232"/>
                </a:solidFill>
                <a:latin typeface="DM Mono"/>
              </a:rPr>
              <a:t>SAFE</a:t>
            </a:r>
          </a:p>
        </p:txBody>
      </p:sp>
      <p:sp>
        <p:nvSpPr>
          <p:cNvPr id="8" name="TextBox 7"/>
          <p:cNvSpPr txBox="1"/>
          <p:nvPr/>
        </p:nvSpPr>
        <p:spPr>
          <a:xfrm>
            <a:off x="6309360" y="2743200"/>
            <a:ext cx="5212080" cy="3200400"/>
          </a:xfrm>
          <a:prstGeom prst="rect">
            <a:avLst/>
          </a:prstGeom>
          <a:noFill/>
        </p:spPr>
        <p:txBody>
          <a:bodyPr wrap="square">
            <a:spAutoFit/>
          </a:bodyPr>
          <a:lstStyle/>
          <a:p>
            <a:pPr algn="l">
              <a:lnSpc>
                <a:spcPct val="130000"/>
              </a:lnSpc>
            </a:pPr>
            <a:r>
              <a:rPr sz="1250" b="0" i="0">
                <a:solidFill>
                  <a:srgbClr val="24344A"/>
                </a:solidFill>
                <a:latin typeface="DM Sans"/>
              </a:rPr>
              <a:t>Real screenshot QA in both English and Urdu, not assumed from code</a:t>
            </a:r>
          </a:p>
          <a:p>
            <a:pPr algn="l">
              <a:lnSpc>
                <a:spcPct val="130000"/>
              </a:lnSpc>
            </a:pPr>
            <a:r>
              <a:rPr sz="1250" b="0" i="0">
                <a:solidFill>
                  <a:srgbClr val="24344A"/>
                </a:solidFill>
                <a:latin typeface="DM Sans"/>
              </a:rPr>
              <a:t/>
            </a:r>
          </a:p>
          <a:p>
            <a:pPr algn="l">
              <a:lnSpc>
                <a:spcPct val="130000"/>
              </a:lnSpc>
            </a:pPr>
            <a:r>
              <a:rPr sz="1250" b="0" i="0">
                <a:solidFill>
                  <a:srgbClr val="24344A"/>
                </a:solidFill>
                <a:latin typeface="DM Sans"/>
              </a:rPr>
              <a:t>Defense in depth: crisis re-check and Urdu-script guard both discard unsafe output</a:t>
            </a:r>
          </a:p>
        </p:txBody>
      </p:sp>
      <p:sp>
        <p:nvSpPr>
          <p:cNvPr id="9" name="TextBox 8"/>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10" name="TextBox 9"/>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09 / ROADMAP</a:t>
            </a:r>
          </a:p>
        </p:txBody>
      </p:sp>
      <p:sp>
        <p:nvSpPr>
          <p:cNvPr id="4" name="TextBox 3"/>
          <p:cNvSpPr txBox="1"/>
          <p:nvPr/>
        </p:nvSpPr>
        <p:spPr>
          <a:xfrm>
            <a:off x="685800" y="777240"/>
            <a:ext cx="10607040" cy="1280160"/>
          </a:xfrm>
          <a:prstGeom prst="rect">
            <a:avLst/>
          </a:prstGeom>
          <a:noFill/>
        </p:spPr>
        <p:txBody>
          <a:bodyPr wrap="square">
            <a:spAutoFit/>
          </a:bodyPr>
          <a:lstStyle/>
          <a:p>
            <a:pPr algn="l">
              <a:lnSpc>
                <a:spcPct val="112000"/>
              </a:lnSpc>
            </a:pPr>
            <a:r>
              <a:rPr sz="3200" b="1" i="0">
                <a:solidFill>
                  <a:srgbClr val="24344A"/>
                </a:solidFill>
                <a:latin typeface="Georgia"/>
              </a:rPr>
              <a:t>What's built - and what's</a:t>
            </a:r>
          </a:p>
          <a:p>
            <a:pPr algn="l">
              <a:lnSpc>
                <a:spcPct val="112000"/>
              </a:lnSpc>
            </a:pPr>
            <a:r>
              <a:rPr sz="3200" b="1" i="0">
                <a:solidFill>
                  <a:srgbClr val="24344A"/>
                </a:solidFill>
                <a:latin typeface="Georgia"/>
              </a:rPr>
              <a:t>deliberately not.</a:t>
            </a:r>
          </a:p>
        </p:txBody>
      </p:sp>
      <p:sp>
        <p:nvSpPr>
          <p:cNvPr id="5" name="TextBox 4"/>
          <p:cNvSpPr txBox="1"/>
          <p:nvPr/>
        </p:nvSpPr>
        <p:spPr>
          <a:xfrm>
            <a:off x="822960" y="2331720"/>
            <a:ext cx="5212080" cy="320040"/>
          </a:xfrm>
          <a:prstGeom prst="rect">
            <a:avLst/>
          </a:prstGeom>
          <a:noFill/>
        </p:spPr>
        <p:txBody>
          <a:bodyPr wrap="square">
            <a:spAutoFit/>
          </a:bodyPr>
          <a:lstStyle/>
          <a:p>
            <a:pPr algn="l">
              <a:lnSpc>
                <a:spcPct val="120000"/>
              </a:lnSpc>
            </a:pPr>
            <a:r>
              <a:rPr sz="1200" b="1" i="0">
                <a:solidFill>
                  <a:srgbClr val="2F8F6E"/>
                </a:solidFill>
                <a:latin typeface="DM Mono"/>
              </a:rPr>
              <a:t>BUILT</a:t>
            </a:r>
          </a:p>
        </p:txBody>
      </p:sp>
      <p:sp>
        <p:nvSpPr>
          <p:cNvPr id="6" name="TextBox 5"/>
          <p:cNvSpPr txBox="1"/>
          <p:nvPr/>
        </p:nvSpPr>
        <p:spPr>
          <a:xfrm>
            <a:off x="822960" y="2743200"/>
            <a:ext cx="5212080" cy="3200400"/>
          </a:xfrm>
          <a:prstGeom prst="rect">
            <a:avLst/>
          </a:prstGeom>
          <a:noFill/>
        </p:spPr>
        <p:txBody>
          <a:bodyPr wrap="square">
            <a:spAutoFit/>
          </a:bodyPr>
          <a:lstStyle/>
          <a:p>
            <a:pPr algn="l">
              <a:lnSpc>
                <a:spcPct val="130000"/>
              </a:lnSpc>
            </a:pPr>
            <a:r>
              <a:rPr sz="1250" b="0" i="0">
                <a:solidFill>
                  <a:srgbClr val="24344A"/>
                </a:solidFill>
                <a:latin typeface="DM Sans"/>
              </a:rPr>
              <a:t>Voice + text + PHQ-9/GAD-7/K10 fused into one explainable score</a:t>
            </a:r>
          </a:p>
          <a:p>
            <a:pPr algn="l">
              <a:lnSpc>
                <a:spcPct val="130000"/>
              </a:lnSpc>
            </a:pPr>
            <a:r>
              <a:rPr sz="1250" b="0" i="0">
                <a:solidFill>
                  <a:srgbClr val="24344A"/>
                </a:solidFill>
                <a:latin typeface="DM Sans"/>
              </a:rPr>
              <a:t/>
            </a:r>
          </a:p>
          <a:p>
            <a:pPr algn="l">
              <a:lnSpc>
                <a:spcPct val="130000"/>
              </a:lnSpc>
            </a:pPr>
            <a:r>
              <a:rPr sz="1250" b="0" i="0">
                <a:solidFill>
                  <a:srgbClr val="24344A"/>
                </a:solidFill>
                <a:latin typeface="DM Sans"/>
              </a:rPr>
              <a:t>Bounded AI chat with a hard safety gate, English and Urdu</a:t>
            </a:r>
          </a:p>
          <a:p>
            <a:pPr algn="l">
              <a:lnSpc>
                <a:spcPct val="130000"/>
              </a:lnSpc>
            </a:pPr>
            <a:r>
              <a:rPr sz="1250" b="0" i="0">
                <a:solidFill>
                  <a:srgbClr val="24344A"/>
                </a:solidFill>
                <a:latin typeface="DM Sans"/>
              </a:rPr>
              <a:t/>
            </a:r>
          </a:p>
          <a:p>
            <a:pPr algn="l">
              <a:lnSpc>
                <a:spcPct val="130000"/>
              </a:lnSpc>
            </a:pPr>
            <a:r>
              <a:rPr sz="1250" b="0" i="0">
                <a:solidFill>
                  <a:srgbClr val="24344A"/>
                </a:solidFill>
                <a:latin typeface="DM Sans"/>
              </a:rPr>
              <a:t>Original 3D step-icon library across every page</a:t>
            </a:r>
          </a:p>
          <a:p>
            <a:pPr algn="l">
              <a:lnSpc>
                <a:spcPct val="130000"/>
              </a:lnSpc>
            </a:pPr>
            <a:r>
              <a:rPr sz="1250" b="0" i="0">
                <a:solidFill>
                  <a:srgbClr val="24344A"/>
                </a:solidFill>
                <a:latin typeface="DM Sans"/>
              </a:rPr>
              <a:t/>
            </a:r>
          </a:p>
          <a:p>
            <a:pPr algn="l">
              <a:lnSpc>
                <a:spcPct val="130000"/>
              </a:lnSpc>
            </a:pPr>
            <a:r>
              <a:rPr sz="1250" b="0" i="0">
                <a:solidFill>
                  <a:srgbClr val="24344A"/>
                </a:solidFill>
                <a:latin typeface="DM Sans"/>
              </a:rPr>
              <a:t>Real Pakistan therapist/psychiatrist directory</a:t>
            </a:r>
          </a:p>
          <a:p>
            <a:pPr algn="l">
              <a:lnSpc>
                <a:spcPct val="130000"/>
              </a:lnSpc>
            </a:pPr>
            <a:r>
              <a:rPr sz="1250" b="0" i="0">
                <a:solidFill>
                  <a:srgbClr val="24344A"/>
                </a:solidFill>
                <a:latin typeface="DM Sans"/>
              </a:rPr>
              <a:t/>
            </a:r>
          </a:p>
          <a:p>
            <a:pPr algn="l">
              <a:lnSpc>
                <a:spcPct val="130000"/>
              </a:lnSpc>
            </a:pPr>
            <a:r>
              <a:rPr sz="1250" b="0" i="0">
                <a:solidFill>
                  <a:srgbClr val="24344A"/>
                </a:solidFill>
                <a:latin typeface="DM Sans"/>
              </a:rPr>
              <a:t>Full site SEO - per-page metadata, sitemap, structured data</a:t>
            </a:r>
          </a:p>
        </p:txBody>
      </p:sp>
      <p:sp>
        <p:nvSpPr>
          <p:cNvPr id="7" name="TextBox 6"/>
          <p:cNvSpPr txBox="1"/>
          <p:nvPr/>
        </p:nvSpPr>
        <p:spPr>
          <a:xfrm>
            <a:off x="6309360" y="2331720"/>
            <a:ext cx="5212080" cy="320040"/>
          </a:xfrm>
          <a:prstGeom prst="rect">
            <a:avLst/>
          </a:prstGeom>
          <a:noFill/>
        </p:spPr>
        <p:txBody>
          <a:bodyPr wrap="square">
            <a:spAutoFit/>
          </a:bodyPr>
          <a:lstStyle/>
          <a:p>
            <a:pPr algn="l">
              <a:lnSpc>
                <a:spcPct val="120000"/>
              </a:lnSpc>
            </a:pPr>
            <a:r>
              <a:rPr sz="1200" b="1" i="0">
                <a:solidFill>
                  <a:srgbClr val="7A4318"/>
                </a:solidFill>
                <a:latin typeface="DM Mono"/>
              </a:rPr>
              <a:t>NOT YET BUILT - DELIBERATELY</a:t>
            </a:r>
          </a:p>
        </p:txBody>
      </p:sp>
      <p:sp>
        <p:nvSpPr>
          <p:cNvPr id="8" name="TextBox 7"/>
          <p:cNvSpPr txBox="1"/>
          <p:nvPr/>
        </p:nvSpPr>
        <p:spPr>
          <a:xfrm>
            <a:off x="6309360" y="2743200"/>
            <a:ext cx="5212080" cy="3200400"/>
          </a:xfrm>
          <a:prstGeom prst="rect">
            <a:avLst/>
          </a:prstGeom>
          <a:noFill/>
        </p:spPr>
        <p:txBody>
          <a:bodyPr wrap="square">
            <a:spAutoFit/>
          </a:bodyPr>
          <a:lstStyle/>
          <a:p>
            <a:pPr algn="l">
              <a:lnSpc>
                <a:spcPct val="130000"/>
              </a:lnSpc>
            </a:pPr>
            <a:r>
              <a:rPr sz="1250" b="0" i="0">
                <a:solidFill>
                  <a:srgbClr val="24344A"/>
                </a:solidFill>
                <a:latin typeface="DM Sans"/>
              </a:rPr>
              <a:t>Score calibration - no labeled outcome data yet</a:t>
            </a:r>
          </a:p>
          <a:p>
            <a:pPr algn="l">
              <a:lnSpc>
                <a:spcPct val="130000"/>
              </a:lnSpc>
            </a:pPr>
            <a:r>
              <a:rPr sz="1250" b="0" i="0">
                <a:solidFill>
                  <a:srgbClr val="24344A"/>
                </a:solidFill>
                <a:latin typeface="DM Sans"/>
              </a:rPr>
              <a:t/>
            </a:r>
          </a:p>
          <a:p>
            <a:pPr algn="l">
              <a:lnSpc>
                <a:spcPct val="130000"/>
              </a:lnSpc>
            </a:pPr>
            <a:r>
              <a:rPr sz="1250" b="0" i="0">
                <a:solidFill>
                  <a:srgbClr val="24344A"/>
                </a:solidFill>
                <a:latin typeface="DM Sans"/>
              </a:rPr>
              <a:t>Clinically validated Urdu PHQ-9/GAD-7/K10 - demo-only today</a:t>
            </a:r>
          </a:p>
          <a:p>
            <a:pPr algn="l">
              <a:lnSpc>
                <a:spcPct val="130000"/>
              </a:lnSpc>
            </a:pPr>
            <a:r>
              <a:rPr sz="1250" b="0" i="0">
                <a:solidFill>
                  <a:srgbClr val="24344A"/>
                </a:solidFill>
                <a:latin typeface="DM Sans"/>
              </a:rPr>
              <a:t/>
            </a:r>
          </a:p>
          <a:p>
            <a:pPr algn="l">
              <a:lnSpc>
                <a:spcPct val="130000"/>
              </a:lnSpc>
            </a:pPr>
            <a:r>
              <a:rPr sz="1250" b="0" i="0">
                <a:solidFill>
                  <a:srgbClr val="24344A"/>
                </a:solidFill>
                <a:latin typeface="DM Sans"/>
              </a:rPr>
              <a:t>Real acoustic biomarker vendor - heuristic proxy today</a:t>
            </a:r>
          </a:p>
          <a:p>
            <a:pPr algn="l">
              <a:lnSpc>
                <a:spcPct val="130000"/>
              </a:lnSpc>
            </a:pPr>
            <a:r>
              <a:rPr sz="1250" b="0" i="0">
                <a:solidFill>
                  <a:srgbClr val="24344A"/>
                </a:solidFill>
                <a:latin typeface="DM Sans"/>
              </a:rPr>
              <a:t/>
            </a:r>
          </a:p>
          <a:p>
            <a:pPr algn="l">
              <a:lnSpc>
                <a:spcPct val="130000"/>
              </a:lnSpc>
            </a:pPr>
            <a:r>
              <a:rPr sz="1250" b="0" i="0">
                <a:solidFill>
                  <a:srgbClr val="24344A"/>
                </a:solidFill>
                <a:latin typeface="DM Sans"/>
              </a:rPr>
              <a:t>Auth hardening - rate-limiting, httpOnly cookies pending</a:t>
            </a:r>
          </a:p>
        </p:txBody>
      </p:sp>
      <p:sp>
        <p:nvSpPr>
          <p:cNvPr id="9" name="TextBox 8"/>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10" name="TextBox 9"/>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09 / FUTURE POSSIBILITIES</a:t>
            </a:r>
          </a:p>
        </p:txBody>
      </p:sp>
      <p:sp>
        <p:nvSpPr>
          <p:cNvPr id="4" name="TextBox 3"/>
          <p:cNvSpPr txBox="1"/>
          <p:nvPr/>
        </p:nvSpPr>
        <p:spPr>
          <a:xfrm>
            <a:off x="685800" y="777240"/>
            <a:ext cx="10607040" cy="1371600"/>
          </a:xfrm>
          <a:prstGeom prst="rect">
            <a:avLst/>
          </a:prstGeom>
          <a:noFill/>
        </p:spPr>
        <p:txBody>
          <a:bodyPr wrap="square">
            <a:spAutoFit/>
          </a:bodyPr>
          <a:lstStyle/>
          <a:p>
            <a:pPr algn="l">
              <a:lnSpc>
                <a:spcPct val="112000"/>
              </a:lnSpc>
            </a:pPr>
            <a:r>
              <a:rPr sz="3200" b="1" i="0">
                <a:solidFill>
                  <a:srgbClr val="24344A"/>
                </a:solidFill>
                <a:latin typeface="Georgia"/>
              </a:rPr>
              <a:t>Where this goes from here.</a:t>
            </a:r>
          </a:p>
        </p:txBody>
      </p:sp>
      <p:sp>
        <p:nvSpPr>
          <p:cNvPr id="5" name="TextBox 4"/>
          <p:cNvSpPr txBox="1"/>
          <p:nvPr/>
        </p:nvSpPr>
        <p:spPr>
          <a:xfrm>
            <a:off x="685800" y="2286000"/>
            <a:ext cx="10789920" cy="1280160"/>
          </a:xfrm>
          <a:prstGeom prst="rect">
            <a:avLst/>
          </a:prstGeom>
          <a:noFill/>
        </p:spPr>
        <p:txBody>
          <a:bodyPr wrap="square">
            <a:spAutoFit/>
          </a:bodyPr>
          <a:lstStyle/>
          <a:p>
            <a:pPr algn="l">
              <a:lnSpc>
                <a:spcPct val="135000"/>
              </a:lnSpc>
            </a:pPr>
            <a:r>
              <a:rPr sz="1400" b="0" i="0">
                <a:solidFill>
                  <a:srgbClr val="6E7C8C"/>
                </a:solidFill>
                <a:latin typeface="DM Sans"/>
              </a:rPr>
              <a:t>- A validated Urdu instrument would unlock real clinical deployment in Urdu-speaking settings.</a:t>
            </a:r>
          </a:p>
          <a:p>
            <a:pPr algn="l">
              <a:lnSpc>
                <a:spcPct val="135000"/>
              </a:lnSpc>
            </a:pPr>
            <a:r>
              <a:rPr sz="1400" b="0" i="0">
                <a:solidFill>
                  <a:srgbClr val="6E7C8C"/>
                </a:solidFill>
                <a:latin typeface="DM Sans"/>
              </a:rPr>
              <a:t>- Score calibration via real outcome data (Platt scaling / isotonic regression).</a:t>
            </a:r>
          </a:p>
          <a:p>
            <a:pPr algn="l">
              <a:lnSpc>
                <a:spcPct val="135000"/>
              </a:lnSpc>
            </a:pPr>
            <a:r>
              <a:rPr sz="1400" b="0" i="0">
                <a:solidFill>
                  <a:srgbClr val="6E7C8C"/>
                </a:solidFill>
                <a:latin typeface="DM Sans"/>
              </a:rPr>
              <a:t>- A real acoustic biomarker vendor to replace today's heuristic voice proxy.</a:t>
            </a:r>
          </a:p>
          <a:p>
            <a:pPr algn="l">
              <a:lnSpc>
                <a:spcPct val="135000"/>
              </a:lnSpc>
            </a:pPr>
            <a:r>
              <a:rPr sz="1400" b="0" i="0">
                <a:solidFill>
                  <a:srgbClr val="6E7C8C"/>
                </a:solidFill>
                <a:latin typeface="DM Sans"/>
              </a:rPr>
              <a:t>- Deeper Alibaba Cloud integration - Function Compute, OSS-backed caching.</a:t>
            </a:r>
          </a:p>
          <a:p>
            <a:pPr algn="l">
              <a:lnSpc>
                <a:spcPct val="135000"/>
              </a:lnSpc>
            </a:pPr>
            <a:r>
              <a:rPr sz="1400" b="0" i="0">
                <a:solidFill>
                  <a:srgbClr val="6E7C8C"/>
                </a:solidFill>
                <a:latin typeface="DM Sans"/>
              </a:rPr>
              <a:t>- More regional languages (Punjabi, Pashto, Sindhi) using the same bilingual architecture.</a:t>
            </a:r>
          </a:p>
        </p:txBody>
      </p:sp>
      <p:sp>
        <p:nvSpPr>
          <p:cNvPr id="6" name="TextBox 5"/>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7" name="TextBox 6"/>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274320"/>
          </a:xfrm>
          <a:prstGeom prst="rect">
            <a:avLst/>
          </a:prstGeom>
          <a:noFill/>
        </p:spPr>
        <p:txBody>
          <a:bodyPr wrap="square">
            <a:spAutoFit/>
          </a:bodyPr>
          <a:lstStyle/>
          <a:p>
            <a:pPr algn="l">
              <a:lnSpc>
                <a:spcPct val="120000"/>
              </a:lnSpc>
            </a:pPr>
            <a:r>
              <a:rPr sz="1100" b="1" i="0">
                <a:solidFill>
                  <a:srgbClr val="2C6FBA"/>
                </a:solidFill>
                <a:latin typeface="DM Mono"/>
              </a:rPr>
              <a:t>09 / TEAM</a:t>
            </a:r>
          </a:p>
        </p:txBody>
      </p:sp>
      <p:sp>
        <p:nvSpPr>
          <p:cNvPr id="4" name="TextBox 3"/>
          <p:cNvSpPr txBox="1"/>
          <p:nvPr/>
        </p:nvSpPr>
        <p:spPr>
          <a:xfrm>
            <a:off x="0" y="822960"/>
            <a:ext cx="12191695" cy="731520"/>
          </a:xfrm>
          <a:prstGeom prst="rect">
            <a:avLst/>
          </a:prstGeom>
          <a:noFill/>
        </p:spPr>
        <p:txBody>
          <a:bodyPr wrap="square">
            <a:spAutoFit/>
          </a:bodyPr>
          <a:lstStyle/>
          <a:p>
            <a:pPr algn="ctr">
              <a:lnSpc>
                <a:spcPct val="120000"/>
              </a:lnSpc>
            </a:pPr>
            <a:r>
              <a:rPr sz="3400" b="1" i="0">
                <a:solidFill>
                  <a:srgbClr val="24344A"/>
                </a:solidFill>
                <a:latin typeface="Georgia"/>
              </a:rPr>
              <a:t>Built by</a:t>
            </a:r>
          </a:p>
        </p:txBody>
      </p:sp>
      <p:sp>
        <p:nvSpPr>
          <p:cNvPr id="5" name="Rounded Rectangle 4"/>
          <p:cNvSpPr/>
          <p:nvPr/>
        </p:nvSpPr>
        <p:spPr>
          <a:xfrm>
            <a:off x="3566160" y="2103120"/>
            <a:ext cx="2560320" cy="201168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a:p/>
          <a:p/>
          <a:p>
            <a:pPr algn="ctr"/>
            <a:r>
              <a:rPr b="1" sz="1600">
                <a:solidFill>
                  <a:srgbClr val="24344A"/>
                </a:solidFill>
                <a:latin typeface="Georgia"/>
              </a:rPr>
              <a:t>Iqra Nazir</a:t>
            </a:r>
          </a:p>
          <a:p>
            <a:pPr algn="ctr"/>
            <a:r>
              <a:rPr sz="1100">
                <a:solidFill>
                  <a:srgbClr val="6E7C8C"/>
                </a:solidFill>
              </a:rPr>
              <a:t>MindHx</a:t>
            </a:r>
          </a:p>
        </p:txBody>
      </p:sp>
      <p:sp>
        <p:nvSpPr>
          <p:cNvPr id="6" name="Oval 5"/>
          <p:cNvSpPr/>
          <p:nvPr/>
        </p:nvSpPr>
        <p:spPr>
          <a:xfrm>
            <a:off x="4526280" y="2377440"/>
            <a:ext cx="640080" cy="640080"/>
          </a:xfrm>
          <a:prstGeom prst="ellipse">
            <a:avLst/>
          </a:prstGeom>
          <a:solidFill>
            <a:srgbClr val="2C6F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solidFill>
                  <a:srgbClr val="FFFFFF"/>
                </a:solidFill>
              </a:rPr>
              <a:t>IN</a:t>
            </a:r>
          </a:p>
        </p:txBody>
      </p:sp>
      <p:sp>
        <p:nvSpPr>
          <p:cNvPr id="7" name="Rounded Rectangle 6"/>
          <p:cNvSpPr/>
          <p:nvPr/>
        </p:nvSpPr>
        <p:spPr>
          <a:xfrm>
            <a:off x="6858000" y="2103120"/>
            <a:ext cx="2560320" cy="2011680"/>
          </a:xfrm>
          <a:prstGeom prst="roundRect">
            <a:avLst/>
          </a:prstGeom>
          <a:solidFill>
            <a:srgbClr val="FFFFFF"/>
          </a:solidFill>
          <a:ln w="12700">
            <a:solidFill>
              <a:srgbClr val="E9E0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a:p/>
          <a:p/>
          <a:p>
            <a:pPr algn="ctr"/>
            <a:r>
              <a:rPr b="1" sz="1600">
                <a:solidFill>
                  <a:srgbClr val="24344A"/>
                </a:solidFill>
                <a:latin typeface="Georgia"/>
              </a:rPr>
              <a:t>Faizan Arshad</a:t>
            </a:r>
          </a:p>
          <a:p>
            <a:pPr algn="ctr"/>
            <a:r>
              <a:rPr sz="1100">
                <a:solidFill>
                  <a:srgbClr val="6E7C8C"/>
                </a:solidFill>
              </a:rPr>
              <a:t>MindHx</a:t>
            </a:r>
          </a:p>
        </p:txBody>
      </p:sp>
      <p:sp>
        <p:nvSpPr>
          <p:cNvPr id="8" name="Oval 7"/>
          <p:cNvSpPr/>
          <p:nvPr/>
        </p:nvSpPr>
        <p:spPr>
          <a:xfrm>
            <a:off x="7818120" y="2377440"/>
            <a:ext cx="640080" cy="640080"/>
          </a:xfrm>
          <a:prstGeom prst="ellipse">
            <a:avLst/>
          </a:prstGeom>
          <a:solidFill>
            <a:srgbClr val="2F8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solidFill>
                  <a:srgbClr val="FFFFFF"/>
                </a:solidFill>
              </a:rPr>
              <a:t>FA</a:t>
            </a:r>
          </a:p>
        </p:txBody>
      </p:sp>
      <p:sp>
        <p:nvSpPr>
          <p:cNvPr id="9" name="TextBox 8"/>
          <p:cNvSpPr txBox="1"/>
          <p:nvPr/>
        </p:nvSpPr>
        <p:spPr>
          <a:xfrm>
            <a:off x="685800" y="6446520"/>
            <a:ext cx="2743200" cy="274320"/>
          </a:xfrm>
          <a:prstGeom prst="rect">
            <a:avLst/>
          </a:prstGeom>
          <a:noFill/>
        </p:spPr>
        <p:txBody>
          <a:bodyPr wrap="square">
            <a:spAutoFit/>
          </a:bodyPr>
          <a:lstStyle/>
          <a:p>
            <a:pPr algn="l">
              <a:lnSpc>
                <a:spcPct val="120000"/>
              </a:lnSpc>
            </a:pPr>
            <a:r>
              <a:rPr sz="1000" b="1" i="0">
                <a:solidFill>
                  <a:srgbClr val="6E7C8C"/>
                </a:solidFill>
                <a:latin typeface="DM Sans"/>
              </a:rPr>
              <a:t>MindHx</a:t>
            </a:r>
          </a:p>
        </p:txBody>
      </p:sp>
      <p:sp>
        <p:nvSpPr>
          <p:cNvPr id="10" name="TextBox 9"/>
          <p:cNvSpPr txBox="1"/>
          <p:nvPr/>
        </p:nvSpPr>
        <p:spPr>
          <a:xfrm>
            <a:off x="10789920" y="6446520"/>
            <a:ext cx="914400" cy="274320"/>
          </a:xfrm>
          <a:prstGeom prst="rect">
            <a:avLst/>
          </a:prstGeom>
          <a:noFill/>
        </p:spPr>
        <p:txBody>
          <a:bodyPr wrap="square">
            <a:spAutoFit/>
          </a:bodyPr>
          <a:lstStyle/>
          <a:p>
            <a:pPr algn="r">
              <a:lnSpc>
                <a:spcPct val="120000"/>
              </a:lnSpc>
            </a:pPr>
            <a:r>
              <a:rPr sz="1000" b="0" i="0">
                <a:solidFill>
                  <a:srgbClr val="6E7C8C"/>
                </a:solidFill>
                <a:latin typeface="DM San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011680"/>
            <a:ext cx="12191695" cy="457200"/>
          </a:xfrm>
          <a:prstGeom prst="rect">
            <a:avLst/>
          </a:prstGeom>
          <a:noFill/>
        </p:spPr>
        <p:txBody>
          <a:bodyPr wrap="square">
            <a:spAutoFit/>
          </a:bodyPr>
          <a:lstStyle/>
          <a:p>
            <a:pPr algn="ctr">
              <a:lnSpc>
                <a:spcPct val="120000"/>
              </a:lnSpc>
            </a:pPr>
            <a:r>
              <a:rPr sz="2200" b="1" i="0">
                <a:solidFill>
                  <a:srgbClr val="24344A"/>
                </a:solidFill>
                <a:latin typeface="Georgia"/>
              </a:rPr>
              <a:t>MindHx</a:t>
            </a:r>
          </a:p>
        </p:txBody>
      </p:sp>
      <p:sp>
        <p:nvSpPr>
          <p:cNvPr id="4" name="TextBox 3"/>
          <p:cNvSpPr txBox="1"/>
          <p:nvPr/>
        </p:nvSpPr>
        <p:spPr>
          <a:xfrm>
            <a:off x="0" y="2651760"/>
            <a:ext cx="12191695" cy="1097280"/>
          </a:xfrm>
          <a:prstGeom prst="rect">
            <a:avLst/>
          </a:prstGeom>
          <a:noFill/>
        </p:spPr>
        <p:txBody>
          <a:bodyPr wrap="square">
            <a:spAutoFit/>
          </a:bodyPr>
          <a:lstStyle/>
          <a:p>
            <a:pPr algn="ctr">
              <a:lnSpc>
                <a:spcPct val="115000"/>
              </a:lnSpc>
            </a:pPr>
            <a:r>
              <a:rPr sz="3800" b="1" i="0">
                <a:solidFill>
                  <a:srgbClr val="24344A"/>
                </a:solidFill>
                <a:latin typeface="Georgia"/>
              </a:rPr>
              <a:t>Notice the signal.</a:t>
            </a:r>
          </a:p>
          <a:p>
            <a:pPr algn="ctr">
              <a:lnSpc>
                <a:spcPct val="115000"/>
              </a:lnSpc>
            </a:pPr>
            <a:r>
              <a:rPr sz="3800" b="1" i="0">
                <a:solidFill>
                  <a:srgbClr val="24344A"/>
                </a:solidFill>
                <a:latin typeface="Georgia"/>
              </a:rPr>
              <a:t>Keep the human.</a:t>
            </a:r>
          </a:p>
        </p:txBody>
      </p:sp>
      <p:sp>
        <p:nvSpPr>
          <p:cNvPr id="5" name="Rounded Rectangle 4"/>
          <p:cNvSpPr/>
          <p:nvPr/>
        </p:nvSpPr>
        <p:spPr>
          <a:xfrm>
            <a:off x="2194560" y="4206240"/>
            <a:ext cx="7772400" cy="1005840"/>
          </a:xfrm>
          <a:prstGeom prst="roundRect">
            <a:avLst/>
          </a:prstGeom>
          <a:solidFill>
            <a:srgbClr val="FBE9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a:solidFill>
                  <a:srgbClr val="7A2D2D"/>
                </a:solidFill>
              </a:rPr>
              <a:t>MindHx is a screening and triage aid, not a diagnosis. Every score is a starting point for a conversation with a qualified professional - never a replacement for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